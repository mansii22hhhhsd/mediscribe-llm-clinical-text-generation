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Italics" panose="020B0604020202020204" charset="0"/>
      <p:regular r:id="rId16"/>
    </p:embeddedFont>
    <p:embeddedFont>
      <p:font typeface="Times New Roman MT" panose="020B0604020202020204" charset="0"/>
      <p:regular r:id="rId17"/>
    </p:embeddedFont>
    <p:embeddedFont>
      <p:font typeface="Times New Roman MT Bold" panose="020B0604020202020204" charset="0"/>
      <p:regular r:id="rId18"/>
    </p:embeddedFont>
    <p:embeddedFont>
      <p:font typeface="Times New Roman MT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3A"/>
    <a:srgbClr val="E8A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41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670" y="0"/>
            <a:ext cx="18261330" cy="47625"/>
            <a:chOff x="0" y="0"/>
            <a:chExt cx="24348440" cy="63500"/>
          </a:xfrm>
        </p:grpSpPr>
        <p:sp>
          <p:nvSpPr>
            <p:cNvPr id="3" name="Freeform 3"/>
            <p:cNvSpPr/>
            <p:nvPr/>
          </p:nvSpPr>
          <p:spPr>
            <a:xfrm>
              <a:off x="12700" y="4697"/>
              <a:ext cx="24323039" cy="54107"/>
            </a:xfrm>
            <a:custGeom>
              <a:avLst/>
              <a:gdLst/>
              <a:ahLst/>
              <a:cxnLst/>
              <a:rect l="l" t="t" r="r" b="b"/>
              <a:pathLst>
                <a:path w="24323039" h="54107">
                  <a:moveTo>
                    <a:pt x="0" y="0"/>
                  </a:moveTo>
                  <a:lnTo>
                    <a:pt x="24323039" y="0"/>
                  </a:lnTo>
                  <a:lnTo>
                    <a:pt x="24323039" y="54106"/>
                  </a:lnTo>
                  <a:lnTo>
                    <a:pt x="0" y="54106"/>
                  </a:lnTo>
                  <a:close/>
                </a:path>
              </a:pathLst>
            </a:custGeom>
            <a:blipFill>
              <a:blip r:embed="rId3">
                <a:alphaModFix amt="69000"/>
              </a:blip>
              <a:stretch>
                <a:fillRect l="-52" t="-8618459" r="-52" b="-881844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63500"/>
            </a:xfrm>
            <a:custGeom>
              <a:avLst/>
              <a:gdLst/>
              <a:ahLst/>
              <a:cxnLst/>
              <a:rect l="l" t="t" r="r" b="b"/>
              <a:pathLst>
                <a:path w="24348439" h="6350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2114"/>
                    <a:pt x="24348439" y="4697"/>
                  </a:cubicBezTo>
                  <a:lnTo>
                    <a:pt x="24348439" y="58803"/>
                  </a:lnTo>
                  <a:cubicBezTo>
                    <a:pt x="24348439" y="61386"/>
                    <a:pt x="24342725" y="63500"/>
                    <a:pt x="24335739" y="63500"/>
                  </a:cubicBezTo>
                  <a:lnTo>
                    <a:pt x="12700" y="63500"/>
                  </a:lnTo>
                  <a:cubicBezTo>
                    <a:pt x="5715" y="63500"/>
                    <a:pt x="0" y="61386"/>
                    <a:pt x="0" y="58803"/>
                  </a:cubicBezTo>
                  <a:lnTo>
                    <a:pt x="0" y="4697"/>
                  </a:lnTo>
                  <a:cubicBezTo>
                    <a:pt x="0" y="2114"/>
                    <a:pt x="5715" y="0"/>
                    <a:pt x="12700" y="0"/>
                  </a:cubicBezTo>
                  <a:moveTo>
                    <a:pt x="12700" y="9393"/>
                  </a:moveTo>
                  <a:lnTo>
                    <a:pt x="12700" y="4697"/>
                  </a:lnTo>
                  <a:lnTo>
                    <a:pt x="25400" y="4697"/>
                  </a:lnTo>
                  <a:lnTo>
                    <a:pt x="25400" y="58803"/>
                  </a:lnTo>
                  <a:lnTo>
                    <a:pt x="12700" y="58803"/>
                  </a:lnTo>
                  <a:lnTo>
                    <a:pt x="12700" y="54107"/>
                  </a:lnTo>
                  <a:lnTo>
                    <a:pt x="24335739" y="54107"/>
                  </a:lnTo>
                  <a:lnTo>
                    <a:pt x="24335739" y="58803"/>
                  </a:lnTo>
                  <a:lnTo>
                    <a:pt x="24323039" y="58803"/>
                  </a:lnTo>
                  <a:lnTo>
                    <a:pt x="24323039" y="4697"/>
                  </a:lnTo>
                  <a:lnTo>
                    <a:pt x="24335739" y="4697"/>
                  </a:lnTo>
                  <a:lnTo>
                    <a:pt x="24335739" y="9393"/>
                  </a:lnTo>
                  <a:lnTo>
                    <a:pt x="12700" y="9393"/>
                  </a:lnTo>
                  <a:close/>
                </a:path>
              </a:pathLst>
            </a:custGeom>
            <a:solidFill>
              <a:srgbClr val="E8A020">
                <a:alpha val="68627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-19050"/>
            <a:ext cx="47625" cy="10306050"/>
            <a:chOff x="0" y="0"/>
            <a:chExt cx="63500" cy="13741400"/>
          </a:xfrm>
        </p:grpSpPr>
        <p:sp>
          <p:nvSpPr>
            <p:cNvPr id="6" name="Freeform 6"/>
            <p:cNvSpPr/>
            <p:nvPr/>
          </p:nvSpPr>
          <p:spPr>
            <a:xfrm>
              <a:off x="1212" y="12700"/>
              <a:ext cx="61076" cy="13716000"/>
            </a:xfrm>
            <a:custGeom>
              <a:avLst/>
              <a:gdLst/>
              <a:ahLst/>
              <a:cxnLst/>
              <a:rect l="l" t="t" r="r" b="b"/>
              <a:pathLst>
                <a:path w="61076" h="13716000">
                  <a:moveTo>
                    <a:pt x="0" y="0"/>
                  </a:moveTo>
                  <a:lnTo>
                    <a:pt x="61076" y="0"/>
                  </a:lnTo>
                  <a:lnTo>
                    <a:pt x="61076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73000"/>
              </a:blip>
              <a:stretch>
                <a:fillRect l="-28323865" t="-92" r="-29309484" b="-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3500" cy="13741400"/>
            </a:xfrm>
            <a:custGeom>
              <a:avLst/>
              <a:gdLst/>
              <a:ahLst/>
              <a:cxnLst/>
              <a:rect l="l" t="t" r="r" b="b"/>
              <a:pathLst>
                <a:path w="63500" h="13741400">
                  <a:moveTo>
                    <a:pt x="1212" y="0"/>
                  </a:moveTo>
                  <a:lnTo>
                    <a:pt x="62288" y="0"/>
                  </a:lnTo>
                  <a:cubicBezTo>
                    <a:pt x="62955" y="0"/>
                    <a:pt x="63500" y="5715"/>
                    <a:pt x="63500" y="12700"/>
                  </a:cubicBezTo>
                  <a:lnTo>
                    <a:pt x="63500" y="13728700"/>
                  </a:lnTo>
                  <a:cubicBezTo>
                    <a:pt x="63500" y="13735686"/>
                    <a:pt x="62955" y="13741400"/>
                    <a:pt x="62288" y="13741400"/>
                  </a:cubicBezTo>
                  <a:lnTo>
                    <a:pt x="1212" y="13741400"/>
                  </a:lnTo>
                  <a:cubicBezTo>
                    <a:pt x="54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45" y="0"/>
                    <a:pt x="1212" y="0"/>
                  </a:cubicBezTo>
                  <a:moveTo>
                    <a:pt x="1212" y="25400"/>
                  </a:moveTo>
                  <a:lnTo>
                    <a:pt x="1212" y="12700"/>
                  </a:lnTo>
                  <a:lnTo>
                    <a:pt x="2424" y="12700"/>
                  </a:lnTo>
                  <a:lnTo>
                    <a:pt x="2424" y="13728700"/>
                  </a:lnTo>
                  <a:lnTo>
                    <a:pt x="1212" y="13728700"/>
                  </a:lnTo>
                  <a:lnTo>
                    <a:pt x="1212" y="13716000"/>
                  </a:lnTo>
                  <a:lnTo>
                    <a:pt x="62288" y="13716000"/>
                  </a:lnTo>
                  <a:lnTo>
                    <a:pt x="62288" y="13728700"/>
                  </a:lnTo>
                  <a:lnTo>
                    <a:pt x="61076" y="13728700"/>
                  </a:lnTo>
                  <a:lnTo>
                    <a:pt x="61076" y="12700"/>
                  </a:lnTo>
                  <a:lnTo>
                    <a:pt x="62288" y="12700"/>
                  </a:lnTo>
                  <a:lnTo>
                    <a:pt x="62288" y="25400"/>
                  </a:lnTo>
                  <a:lnTo>
                    <a:pt x="1212" y="25400"/>
                  </a:lnTo>
                  <a:close/>
                </a:path>
              </a:pathLst>
            </a:custGeom>
            <a:solidFill>
              <a:srgbClr val="E8A020">
                <a:alpha val="72941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83845" y="2699827"/>
            <a:ext cx="8082806" cy="2434790"/>
            <a:chOff x="0" y="0"/>
            <a:chExt cx="13687305" cy="41230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87304" cy="4123037"/>
            </a:xfrm>
            <a:custGeom>
              <a:avLst/>
              <a:gdLst/>
              <a:ahLst/>
              <a:cxnLst/>
              <a:rect l="l" t="t" r="r" b="b"/>
              <a:pathLst>
                <a:path w="13687304" h="4123037">
                  <a:moveTo>
                    <a:pt x="0" y="0"/>
                  </a:moveTo>
                  <a:lnTo>
                    <a:pt x="13687304" y="0"/>
                  </a:lnTo>
                  <a:lnTo>
                    <a:pt x="13687304" y="4123037"/>
                  </a:lnTo>
                  <a:lnTo>
                    <a:pt x="0" y="41230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2" r="-57663" b="-5077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57175"/>
              <a:ext cx="13687305" cy="43802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518"/>
                </a:lnSpc>
              </a:pPr>
              <a:r>
                <a:rPr lang="en-US" sz="1209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MediScribe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1693" y="5666914"/>
            <a:ext cx="12401825" cy="87902"/>
            <a:chOff x="0" y="0"/>
            <a:chExt cx="16484600" cy="116840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16459200" cy="91440"/>
            </a:xfrm>
            <a:custGeom>
              <a:avLst/>
              <a:gdLst/>
              <a:ahLst/>
              <a:cxnLst/>
              <a:rect l="l" t="t" r="r" b="b"/>
              <a:pathLst>
                <a:path w="16459200" h="91440">
                  <a:moveTo>
                    <a:pt x="0" y="0"/>
                  </a:moveTo>
                  <a:lnTo>
                    <a:pt x="16459200" y="0"/>
                  </a:lnTo>
                  <a:lnTo>
                    <a:pt x="1645920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6484600" cy="116840"/>
            </a:xfrm>
            <a:custGeom>
              <a:avLst/>
              <a:gdLst/>
              <a:ahLst/>
              <a:cxnLst/>
              <a:rect l="l" t="t" r="r" b="b"/>
              <a:pathLst>
                <a:path w="16484600" h="116840">
                  <a:moveTo>
                    <a:pt x="12700" y="0"/>
                  </a:moveTo>
                  <a:lnTo>
                    <a:pt x="16471900" y="0"/>
                  </a:lnTo>
                  <a:cubicBezTo>
                    <a:pt x="16478886" y="0"/>
                    <a:pt x="16484600" y="5715"/>
                    <a:pt x="16484600" y="12700"/>
                  </a:cubicBezTo>
                  <a:lnTo>
                    <a:pt x="16484600" y="104140"/>
                  </a:lnTo>
                  <a:cubicBezTo>
                    <a:pt x="16484600" y="111125"/>
                    <a:pt x="16478886" y="116840"/>
                    <a:pt x="16471900" y="116840"/>
                  </a:cubicBezTo>
                  <a:lnTo>
                    <a:pt x="12700" y="116840"/>
                  </a:lnTo>
                  <a:cubicBezTo>
                    <a:pt x="5715" y="116840"/>
                    <a:pt x="0" y="111125"/>
                    <a:pt x="0" y="104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4140"/>
                  </a:lnTo>
                  <a:lnTo>
                    <a:pt x="12700" y="104140"/>
                  </a:lnTo>
                  <a:lnTo>
                    <a:pt x="12700" y="91440"/>
                  </a:lnTo>
                  <a:lnTo>
                    <a:pt x="16471900" y="91440"/>
                  </a:lnTo>
                  <a:lnTo>
                    <a:pt x="16471900" y="104140"/>
                  </a:lnTo>
                  <a:lnTo>
                    <a:pt x="16459200" y="104140"/>
                  </a:lnTo>
                  <a:lnTo>
                    <a:pt x="16459200" y="12700"/>
                  </a:lnTo>
                  <a:lnTo>
                    <a:pt x="16471900" y="12700"/>
                  </a:lnTo>
                  <a:lnTo>
                    <a:pt x="16471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63203" y="6021071"/>
            <a:ext cx="12018113" cy="1169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395" i="1">
                <a:solidFill>
                  <a:srgbClr val="D6E4F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LLM-based Clinical Report Generation using Google Gemini 2.5 Flash</a:t>
            </a:r>
          </a:p>
          <a:p>
            <a:pPr algn="l">
              <a:lnSpc>
                <a:spcPts val="5512"/>
              </a:lnSpc>
            </a:pPr>
            <a:endParaRPr lang="en-US" sz="3395" i="1">
              <a:solidFill>
                <a:srgbClr val="D6E4F7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583845" y="4530349"/>
            <a:ext cx="9744576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8"/>
              </a:lnSpc>
              <a:spcBef>
                <a:spcPct val="0"/>
              </a:spcBef>
            </a:pPr>
            <a:r>
              <a:rPr lang="en-US" sz="5606" b="1">
                <a:solidFill>
                  <a:srgbClr val="D6E4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Medical Diagnostic Dashboard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800719" y="2961457"/>
            <a:ext cx="320495" cy="3585335"/>
            <a:chOff x="0" y="0"/>
            <a:chExt cx="427327" cy="4780447"/>
          </a:xfrm>
        </p:grpSpPr>
        <p:sp>
          <p:nvSpPr>
            <p:cNvPr id="20" name="AutoShape 20"/>
            <p:cNvSpPr/>
            <p:nvPr/>
          </p:nvSpPr>
          <p:spPr>
            <a:xfrm flipH="1">
              <a:off x="0" y="6844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AutoShape 21"/>
            <p:cNvSpPr/>
            <p:nvPr/>
          </p:nvSpPr>
          <p:spPr>
            <a:xfrm flipH="1">
              <a:off x="0" y="367190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AutoShape 22"/>
            <p:cNvSpPr/>
            <p:nvPr/>
          </p:nvSpPr>
          <p:spPr>
            <a:xfrm flipH="1">
              <a:off x="0" y="2730706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AutoShape 23"/>
            <p:cNvSpPr/>
            <p:nvPr/>
          </p:nvSpPr>
          <p:spPr>
            <a:xfrm flipH="1">
              <a:off x="0" y="3091052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AutoShape 24"/>
            <p:cNvSpPr/>
            <p:nvPr/>
          </p:nvSpPr>
          <p:spPr>
            <a:xfrm flipH="1">
              <a:off x="0" y="1368775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AutoShape 25"/>
            <p:cNvSpPr/>
            <p:nvPr/>
          </p:nvSpPr>
          <p:spPr>
            <a:xfrm flipH="1">
              <a:off x="0" y="1729121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0" y="4092637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AutoShape 27"/>
            <p:cNvSpPr/>
            <p:nvPr/>
          </p:nvSpPr>
          <p:spPr>
            <a:xfrm flipH="1">
              <a:off x="0" y="4452983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AutoShape 28"/>
            <p:cNvSpPr/>
            <p:nvPr/>
          </p:nvSpPr>
          <p:spPr>
            <a:xfrm flipH="1">
              <a:off x="0" y="687810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AutoShape 29"/>
            <p:cNvSpPr/>
            <p:nvPr/>
          </p:nvSpPr>
          <p:spPr>
            <a:xfrm flipH="1">
              <a:off x="0" y="1048156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AutoShape 30"/>
            <p:cNvSpPr/>
            <p:nvPr/>
          </p:nvSpPr>
          <p:spPr>
            <a:xfrm flipH="1">
              <a:off x="0" y="3411671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AutoShape 31"/>
            <p:cNvSpPr/>
            <p:nvPr/>
          </p:nvSpPr>
          <p:spPr>
            <a:xfrm flipH="1">
              <a:off x="0" y="3772018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AutoShape 32"/>
            <p:cNvSpPr/>
            <p:nvPr/>
          </p:nvSpPr>
          <p:spPr>
            <a:xfrm flipH="1">
              <a:off x="0" y="2049741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AutoShape 33"/>
            <p:cNvSpPr/>
            <p:nvPr/>
          </p:nvSpPr>
          <p:spPr>
            <a:xfrm flipH="1">
              <a:off x="0" y="2410087"/>
              <a:ext cx="213663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AutoShape 34"/>
            <p:cNvSpPr/>
            <p:nvPr/>
          </p:nvSpPr>
          <p:spPr>
            <a:xfrm flipH="1">
              <a:off x="0" y="4773602"/>
              <a:ext cx="427327" cy="0"/>
            </a:xfrm>
            <a:prstGeom prst="line">
              <a:avLst/>
            </a:prstGeom>
            <a:ln w="13688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 rot="-10800000">
            <a:off x="15464713" y="2966544"/>
            <a:ext cx="320040" cy="3580248"/>
            <a:chOff x="0" y="0"/>
            <a:chExt cx="426720" cy="4773664"/>
          </a:xfrm>
        </p:grpSpPr>
        <p:sp>
          <p:nvSpPr>
            <p:cNvPr id="36" name="AutoShape 36"/>
            <p:cNvSpPr/>
            <p:nvPr/>
          </p:nvSpPr>
          <p:spPr>
            <a:xfrm flipH="1">
              <a:off x="0" y="6835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AutoShape 37"/>
            <p:cNvSpPr/>
            <p:nvPr/>
          </p:nvSpPr>
          <p:spPr>
            <a:xfrm flipH="1">
              <a:off x="0" y="366669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AutoShape 38"/>
            <p:cNvSpPr/>
            <p:nvPr/>
          </p:nvSpPr>
          <p:spPr>
            <a:xfrm flipH="1">
              <a:off x="0" y="2726832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AutoShape 39"/>
            <p:cNvSpPr/>
            <p:nvPr/>
          </p:nvSpPr>
          <p:spPr>
            <a:xfrm flipH="1">
              <a:off x="0" y="3086666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AutoShape 40"/>
            <p:cNvSpPr/>
            <p:nvPr/>
          </p:nvSpPr>
          <p:spPr>
            <a:xfrm flipH="1">
              <a:off x="0" y="1366833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AutoShape 41"/>
            <p:cNvSpPr/>
            <p:nvPr/>
          </p:nvSpPr>
          <p:spPr>
            <a:xfrm flipH="1">
              <a:off x="0" y="1726668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AutoShape 42"/>
            <p:cNvSpPr/>
            <p:nvPr/>
          </p:nvSpPr>
          <p:spPr>
            <a:xfrm flipH="1">
              <a:off x="0" y="4086830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AutoShape 43"/>
            <p:cNvSpPr/>
            <p:nvPr/>
          </p:nvSpPr>
          <p:spPr>
            <a:xfrm flipH="1">
              <a:off x="0" y="4446665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AutoShape 44"/>
            <p:cNvSpPr/>
            <p:nvPr/>
          </p:nvSpPr>
          <p:spPr>
            <a:xfrm flipH="1">
              <a:off x="0" y="686834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AutoShape 45"/>
            <p:cNvSpPr/>
            <p:nvPr/>
          </p:nvSpPr>
          <p:spPr>
            <a:xfrm flipH="1">
              <a:off x="0" y="1046669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AutoShape 46"/>
            <p:cNvSpPr/>
            <p:nvPr/>
          </p:nvSpPr>
          <p:spPr>
            <a:xfrm flipH="1">
              <a:off x="0" y="3406831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AutoShape 47"/>
            <p:cNvSpPr/>
            <p:nvPr/>
          </p:nvSpPr>
          <p:spPr>
            <a:xfrm flipH="1">
              <a:off x="0" y="3766666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AutoShape 48"/>
            <p:cNvSpPr/>
            <p:nvPr/>
          </p:nvSpPr>
          <p:spPr>
            <a:xfrm flipH="1">
              <a:off x="0" y="2046832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AutoShape 49"/>
            <p:cNvSpPr/>
            <p:nvPr/>
          </p:nvSpPr>
          <p:spPr>
            <a:xfrm flipH="1">
              <a:off x="0" y="2406667"/>
              <a:ext cx="21336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AutoShape 50"/>
            <p:cNvSpPr/>
            <p:nvPr/>
          </p:nvSpPr>
          <p:spPr>
            <a:xfrm flipH="1">
              <a:off x="0" y="4766829"/>
              <a:ext cx="426720" cy="0"/>
            </a:xfrm>
            <a:prstGeom prst="line">
              <a:avLst/>
            </a:prstGeom>
            <a:ln w="136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5DFA357-C742-1117-5481-7C80A6352037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7F7007A-330A-4EF6-37DC-168DE373DA8B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70C406C6-3A61-5C1C-0DC2-606457A42B47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01A5754-4A88-1832-658A-823EB2C311FD}"/>
              </a:ext>
            </a:extLst>
          </p:cNvPr>
          <p:cNvGrpSpPr/>
          <p:nvPr/>
        </p:nvGrpSpPr>
        <p:grpSpPr>
          <a:xfrm>
            <a:off x="169984" y="108431"/>
            <a:ext cx="18108490" cy="1469563"/>
            <a:chOff x="31916" y="-26250"/>
            <a:chExt cx="18108490" cy="1469563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F10C1085-FDEB-B777-8E39-6CA43D5AC810}"/>
                </a:ext>
              </a:extLst>
            </p:cNvPr>
            <p:cNvSpPr/>
            <p:nvPr/>
          </p:nvSpPr>
          <p:spPr>
            <a:xfrm>
              <a:off x="31916" y="224112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9F218C8B-A094-0FC8-0656-0B884519F819}"/>
                </a:ext>
              </a:extLst>
            </p:cNvPr>
            <p:cNvSpPr/>
            <p:nvPr/>
          </p:nvSpPr>
          <p:spPr>
            <a:xfrm>
              <a:off x="2251649" y="-26250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10167747"/>
            <a:ext cx="18261330" cy="128778"/>
            <a:chOff x="0" y="0"/>
            <a:chExt cx="24348440" cy="171704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1658" y="857250"/>
            <a:ext cx="6340279" cy="1097280"/>
            <a:chOff x="0" y="0"/>
            <a:chExt cx="8453705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53705" cy="1463040"/>
            </a:xfrm>
            <a:custGeom>
              <a:avLst/>
              <a:gdLst/>
              <a:ahLst/>
              <a:cxnLst/>
              <a:rect l="l" t="t" r="r" b="b"/>
              <a:pathLst>
                <a:path w="8453705" h="1463040">
                  <a:moveTo>
                    <a:pt x="0" y="0"/>
                  </a:moveTo>
                  <a:lnTo>
                    <a:pt x="8453705" y="0"/>
                  </a:lnTo>
                  <a:lnTo>
                    <a:pt x="8453705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r="-166087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8453705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59"/>
                </a:lnSpc>
              </a:pPr>
              <a:r>
                <a:rPr lang="en-US" sz="52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Presentation Outline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1658" y="2253615"/>
            <a:ext cx="8107986" cy="1136966"/>
            <a:chOff x="0" y="0"/>
            <a:chExt cx="10614430" cy="1488440"/>
          </a:xfrm>
        </p:grpSpPr>
        <p:sp>
          <p:nvSpPr>
            <p:cNvPr id="18" name="Freeform 18"/>
            <p:cNvSpPr/>
            <p:nvPr/>
          </p:nvSpPr>
          <p:spPr>
            <a:xfrm>
              <a:off x="12900" y="12700"/>
              <a:ext cx="10588629" cy="1463040"/>
            </a:xfrm>
            <a:custGeom>
              <a:avLst/>
              <a:gdLst/>
              <a:ahLst/>
              <a:cxnLst/>
              <a:rect l="l" t="t" r="r" b="b"/>
              <a:pathLst>
                <a:path w="10588629" h="1463040">
                  <a:moveTo>
                    <a:pt x="0" y="0"/>
                  </a:moveTo>
                  <a:lnTo>
                    <a:pt x="10588630" y="0"/>
                  </a:lnTo>
                  <a:lnTo>
                    <a:pt x="1058863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0614430" cy="1488440"/>
            </a:xfrm>
            <a:custGeom>
              <a:avLst/>
              <a:gdLst/>
              <a:ahLst/>
              <a:cxnLst/>
              <a:rect l="l" t="t" r="r" b="b"/>
              <a:pathLst>
                <a:path w="10614430" h="1488440">
                  <a:moveTo>
                    <a:pt x="12900" y="0"/>
                  </a:moveTo>
                  <a:lnTo>
                    <a:pt x="10601530" y="0"/>
                  </a:lnTo>
                  <a:cubicBezTo>
                    <a:pt x="10608625" y="0"/>
                    <a:pt x="10614430" y="5715"/>
                    <a:pt x="10614430" y="12700"/>
                  </a:cubicBezTo>
                  <a:lnTo>
                    <a:pt x="10614430" y="1475740"/>
                  </a:lnTo>
                  <a:cubicBezTo>
                    <a:pt x="10614430" y="1482725"/>
                    <a:pt x="10608625" y="1488440"/>
                    <a:pt x="1060153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601530" y="1463040"/>
                  </a:lnTo>
                  <a:lnTo>
                    <a:pt x="10601530" y="1475740"/>
                  </a:lnTo>
                  <a:lnTo>
                    <a:pt x="10588629" y="1475740"/>
                  </a:lnTo>
                  <a:lnTo>
                    <a:pt x="10588629" y="12700"/>
                  </a:lnTo>
                  <a:lnTo>
                    <a:pt x="10601530" y="12700"/>
                  </a:lnTo>
                  <a:lnTo>
                    <a:pt x="1060153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1658" y="2253615"/>
            <a:ext cx="800156" cy="1136966"/>
            <a:chOff x="0" y="0"/>
            <a:chExt cx="1047511" cy="1488440"/>
          </a:xfrm>
        </p:grpSpPr>
        <p:sp>
          <p:nvSpPr>
            <p:cNvPr id="21" name="Freeform 21"/>
            <p:cNvSpPr/>
            <p:nvPr/>
          </p:nvSpPr>
          <p:spPr>
            <a:xfrm>
              <a:off x="12900" y="1270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047511" cy="1488440"/>
            </a:xfrm>
            <a:custGeom>
              <a:avLst/>
              <a:gdLst/>
              <a:ahLst/>
              <a:cxnLst/>
              <a:rect l="l" t="t" r="r" b="b"/>
              <a:pathLst>
                <a:path w="1047511" h="1488440">
                  <a:moveTo>
                    <a:pt x="12900" y="0"/>
                  </a:moveTo>
                  <a:lnTo>
                    <a:pt x="1034610" y="0"/>
                  </a:lnTo>
                  <a:cubicBezTo>
                    <a:pt x="1041705" y="0"/>
                    <a:pt x="1047511" y="5715"/>
                    <a:pt x="1047511" y="12700"/>
                  </a:cubicBezTo>
                  <a:lnTo>
                    <a:pt x="1047511" y="1475740"/>
                  </a:lnTo>
                  <a:cubicBezTo>
                    <a:pt x="1047511" y="1482725"/>
                    <a:pt x="1041705" y="1488440"/>
                    <a:pt x="103461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34610" y="1463040"/>
                  </a:lnTo>
                  <a:lnTo>
                    <a:pt x="1034610" y="1475740"/>
                  </a:lnTo>
                  <a:lnTo>
                    <a:pt x="1021710" y="1475740"/>
                  </a:lnTo>
                  <a:lnTo>
                    <a:pt x="1021710" y="12700"/>
                  </a:lnTo>
                  <a:lnTo>
                    <a:pt x="1034610" y="12700"/>
                  </a:lnTo>
                  <a:lnTo>
                    <a:pt x="103461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513" y="2263316"/>
            <a:ext cx="780448" cy="1117564"/>
            <a:chOff x="0" y="0"/>
            <a:chExt cx="1021710" cy="14630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501" r="-1329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2171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03860" y="2263316"/>
            <a:ext cx="7024031" cy="1117564"/>
            <a:chOff x="0" y="0"/>
            <a:chExt cx="9195389" cy="14630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95388" cy="1463040"/>
            </a:xfrm>
            <a:custGeom>
              <a:avLst/>
              <a:gdLst/>
              <a:ahLst/>
              <a:cxnLst/>
              <a:rect l="l" t="t" r="r" b="b"/>
              <a:pathLst>
                <a:path w="9195388" h="1463040">
                  <a:moveTo>
                    <a:pt x="0" y="0"/>
                  </a:moveTo>
                  <a:lnTo>
                    <a:pt x="9195388" y="0"/>
                  </a:lnTo>
                  <a:lnTo>
                    <a:pt x="91953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63" r="1553" b="-705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195389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1658" y="3790266"/>
            <a:ext cx="8107986" cy="1136966"/>
            <a:chOff x="0" y="0"/>
            <a:chExt cx="10614430" cy="1488440"/>
          </a:xfrm>
        </p:grpSpPr>
        <p:sp>
          <p:nvSpPr>
            <p:cNvPr id="30" name="Freeform 30"/>
            <p:cNvSpPr/>
            <p:nvPr/>
          </p:nvSpPr>
          <p:spPr>
            <a:xfrm>
              <a:off x="12900" y="12700"/>
              <a:ext cx="10588629" cy="1463040"/>
            </a:xfrm>
            <a:custGeom>
              <a:avLst/>
              <a:gdLst/>
              <a:ahLst/>
              <a:cxnLst/>
              <a:rect l="l" t="t" r="r" b="b"/>
              <a:pathLst>
                <a:path w="10588629" h="1463040">
                  <a:moveTo>
                    <a:pt x="0" y="0"/>
                  </a:moveTo>
                  <a:lnTo>
                    <a:pt x="10588630" y="0"/>
                  </a:lnTo>
                  <a:lnTo>
                    <a:pt x="1058863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0614430" cy="1488440"/>
            </a:xfrm>
            <a:custGeom>
              <a:avLst/>
              <a:gdLst/>
              <a:ahLst/>
              <a:cxnLst/>
              <a:rect l="l" t="t" r="r" b="b"/>
              <a:pathLst>
                <a:path w="10614430" h="1488440">
                  <a:moveTo>
                    <a:pt x="12900" y="0"/>
                  </a:moveTo>
                  <a:lnTo>
                    <a:pt x="10601530" y="0"/>
                  </a:lnTo>
                  <a:cubicBezTo>
                    <a:pt x="10608625" y="0"/>
                    <a:pt x="10614430" y="5715"/>
                    <a:pt x="10614430" y="12700"/>
                  </a:cubicBezTo>
                  <a:lnTo>
                    <a:pt x="10614430" y="1475740"/>
                  </a:lnTo>
                  <a:cubicBezTo>
                    <a:pt x="10614430" y="1482725"/>
                    <a:pt x="10608625" y="1488440"/>
                    <a:pt x="1060153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601530" y="1463040"/>
                  </a:lnTo>
                  <a:lnTo>
                    <a:pt x="10601530" y="1475740"/>
                  </a:lnTo>
                  <a:lnTo>
                    <a:pt x="10588629" y="1475740"/>
                  </a:lnTo>
                  <a:lnTo>
                    <a:pt x="10588629" y="12700"/>
                  </a:lnTo>
                  <a:lnTo>
                    <a:pt x="10601530" y="12700"/>
                  </a:lnTo>
                  <a:lnTo>
                    <a:pt x="1060153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1658" y="3790266"/>
            <a:ext cx="800156" cy="1136966"/>
            <a:chOff x="0" y="0"/>
            <a:chExt cx="1047511" cy="1488440"/>
          </a:xfrm>
        </p:grpSpPr>
        <p:sp>
          <p:nvSpPr>
            <p:cNvPr id="33" name="Freeform 33"/>
            <p:cNvSpPr/>
            <p:nvPr/>
          </p:nvSpPr>
          <p:spPr>
            <a:xfrm>
              <a:off x="12900" y="1270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1047511" cy="1488440"/>
            </a:xfrm>
            <a:custGeom>
              <a:avLst/>
              <a:gdLst/>
              <a:ahLst/>
              <a:cxnLst/>
              <a:rect l="l" t="t" r="r" b="b"/>
              <a:pathLst>
                <a:path w="1047511" h="1488440">
                  <a:moveTo>
                    <a:pt x="12900" y="0"/>
                  </a:moveTo>
                  <a:lnTo>
                    <a:pt x="1034610" y="0"/>
                  </a:lnTo>
                  <a:cubicBezTo>
                    <a:pt x="1041705" y="0"/>
                    <a:pt x="1047511" y="5715"/>
                    <a:pt x="1047511" y="12700"/>
                  </a:cubicBezTo>
                  <a:lnTo>
                    <a:pt x="1047511" y="1475740"/>
                  </a:lnTo>
                  <a:cubicBezTo>
                    <a:pt x="1047511" y="1482725"/>
                    <a:pt x="1041705" y="1488440"/>
                    <a:pt x="103461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34610" y="1463040"/>
                  </a:lnTo>
                  <a:lnTo>
                    <a:pt x="1034610" y="1475740"/>
                  </a:lnTo>
                  <a:lnTo>
                    <a:pt x="1021710" y="1475740"/>
                  </a:lnTo>
                  <a:lnTo>
                    <a:pt x="1021710" y="12700"/>
                  </a:lnTo>
                  <a:lnTo>
                    <a:pt x="1034610" y="12700"/>
                  </a:lnTo>
                  <a:lnTo>
                    <a:pt x="103461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513" y="3799967"/>
            <a:ext cx="780448" cy="1117564"/>
            <a:chOff x="0" y="0"/>
            <a:chExt cx="102171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501" r="-1329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2171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03860" y="3799967"/>
            <a:ext cx="7024031" cy="1117564"/>
            <a:chOff x="0" y="0"/>
            <a:chExt cx="9195389" cy="14630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95388" cy="1463040"/>
            </a:xfrm>
            <a:custGeom>
              <a:avLst/>
              <a:gdLst/>
              <a:ahLst/>
              <a:cxnLst/>
              <a:rect l="l" t="t" r="r" b="b"/>
              <a:pathLst>
                <a:path w="9195388" h="1463040">
                  <a:moveTo>
                    <a:pt x="0" y="0"/>
                  </a:moveTo>
                  <a:lnTo>
                    <a:pt x="9195388" y="0"/>
                  </a:lnTo>
                  <a:lnTo>
                    <a:pt x="91953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63" r="1553" b="-705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195389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Motivation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311334" y="2253615"/>
            <a:ext cx="8107986" cy="1136966"/>
            <a:chOff x="0" y="0"/>
            <a:chExt cx="10614430" cy="1488440"/>
          </a:xfrm>
        </p:grpSpPr>
        <p:sp>
          <p:nvSpPr>
            <p:cNvPr id="42" name="Freeform 42"/>
            <p:cNvSpPr/>
            <p:nvPr/>
          </p:nvSpPr>
          <p:spPr>
            <a:xfrm>
              <a:off x="12900" y="12700"/>
              <a:ext cx="10588629" cy="1463040"/>
            </a:xfrm>
            <a:custGeom>
              <a:avLst/>
              <a:gdLst/>
              <a:ahLst/>
              <a:cxnLst/>
              <a:rect l="l" t="t" r="r" b="b"/>
              <a:pathLst>
                <a:path w="10588629" h="1463040">
                  <a:moveTo>
                    <a:pt x="0" y="0"/>
                  </a:moveTo>
                  <a:lnTo>
                    <a:pt x="10588630" y="0"/>
                  </a:lnTo>
                  <a:lnTo>
                    <a:pt x="1058863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10614430" cy="1488440"/>
            </a:xfrm>
            <a:custGeom>
              <a:avLst/>
              <a:gdLst/>
              <a:ahLst/>
              <a:cxnLst/>
              <a:rect l="l" t="t" r="r" b="b"/>
              <a:pathLst>
                <a:path w="10614430" h="1488440">
                  <a:moveTo>
                    <a:pt x="12900" y="0"/>
                  </a:moveTo>
                  <a:lnTo>
                    <a:pt x="10601530" y="0"/>
                  </a:lnTo>
                  <a:cubicBezTo>
                    <a:pt x="10608625" y="0"/>
                    <a:pt x="10614430" y="5715"/>
                    <a:pt x="10614430" y="12700"/>
                  </a:cubicBezTo>
                  <a:lnTo>
                    <a:pt x="10614430" y="1475740"/>
                  </a:lnTo>
                  <a:cubicBezTo>
                    <a:pt x="10614430" y="1482725"/>
                    <a:pt x="10608625" y="1488440"/>
                    <a:pt x="1060153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601530" y="1463040"/>
                  </a:lnTo>
                  <a:lnTo>
                    <a:pt x="10601530" y="1475740"/>
                  </a:lnTo>
                  <a:lnTo>
                    <a:pt x="10588629" y="1475740"/>
                  </a:lnTo>
                  <a:lnTo>
                    <a:pt x="10588629" y="12700"/>
                  </a:lnTo>
                  <a:lnTo>
                    <a:pt x="10601530" y="12700"/>
                  </a:lnTo>
                  <a:lnTo>
                    <a:pt x="1060153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11334" y="2253615"/>
            <a:ext cx="800156" cy="1136966"/>
            <a:chOff x="0" y="0"/>
            <a:chExt cx="1047511" cy="1488440"/>
          </a:xfrm>
        </p:grpSpPr>
        <p:sp>
          <p:nvSpPr>
            <p:cNvPr id="45" name="Freeform 45"/>
            <p:cNvSpPr/>
            <p:nvPr/>
          </p:nvSpPr>
          <p:spPr>
            <a:xfrm>
              <a:off x="12900" y="1270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1047511" cy="1488440"/>
            </a:xfrm>
            <a:custGeom>
              <a:avLst/>
              <a:gdLst/>
              <a:ahLst/>
              <a:cxnLst/>
              <a:rect l="l" t="t" r="r" b="b"/>
              <a:pathLst>
                <a:path w="1047511" h="1488440">
                  <a:moveTo>
                    <a:pt x="12900" y="0"/>
                  </a:moveTo>
                  <a:lnTo>
                    <a:pt x="1034610" y="0"/>
                  </a:lnTo>
                  <a:cubicBezTo>
                    <a:pt x="1041705" y="0"/>
                    <a:pt x="1047511" y="5715"/>
                    <a:pt x="1047511" y="12700"/>
                  </a:cubicBezTo>
                  <a:lnTo>
                    <a:pt x="1047511" y="1475740"/>
                  </a:lnTo>
                  <a:cubicBezTo>
                    <a:pt x="1047511" y="1482725"/>
                    <a:pt x="1041705" y="1488440"/>
                    <a:pt x="103461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34610" y="1463040"/>
                  </a:lnTo>
                  <a:lnTo>
                    <a:pt x="1034610" y="1475740"/>
                  </a:lnTo>
                  <a:lnTo>
                    <a:pt x="1021710" y="1475740"/>
                  </a:lnTo>
                  <a:lnTo>
                    <a:pt x="1021710" y="12700"/>
                  </a:lnTo>
                  <a:lnTo>
                    <a:pt x="1034610" y="12700"/>
                  </a:lnTo>
                  <a:lnTo>
                    <a:pt x="103461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21188" y="2263316"/>
            <a:ext cx="780448" cy="1117564"/>
            <a:chOff x="0" y="0"/>
            <a:chExt cx="1021710" cy="14630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501" r="-1329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02171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243536" y="2263316"/>
            <a:ext cx="7024031" cy="1117564"/>
            <a:chOff x="0" y="0"/>
            <a:chExt cx="9195389" cy="14630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95388" cy="1463040"/>
            </a:xfrm>
            <a:custGeom>
              <a:avLst/>
              <a:gdLst/>
              <a:ahLst/>
              <a:cxnLst/>
              <a:rect l="l" t="t" r="r" b="b"/>
              <a:pathLst>
                <a:path w="9195388" h="1463040">
                  <a:moveTo>
                    <a:pt x="0" y="0"/>
                  </a:moveTo>
                  <a:lnTo>
                    <a:pt x="9195388" y="0"/>
                  </a:lnTo>
                  <a:lnTo>
                    <a:pt x="91953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63" r="1553" b="-705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9195389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&amp; System Used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311334" y="3790266"/>
            <a:ext cx="8107986" cy="1136966"/>
            <a:chOff x="0" y="0"/>
            <a:chExt cx="10614430" cy="1488440"/>
          </a:xfrm>
        </p:grpSpPr>
        <p:sp>
          <p:nvSpPr>
            <p:cNvPr id="54" name="Freeform 54"/>
            <p:cNvSpPr/>
            <p:nvPr/>
          </p:nvSpPr>
          <p:spPr>
            <a:xfrm>
              <a:off x="12900" y="12700"/>
              <a:ext cx="10588629" cy="1463040"/>
            </a:xfrm>
            <a:custGeom>
              <a:avLst/>
              <a:gdLst/>
              <a:ahLst/>
              <a:cxnLst/>
              <a:rect l="l" t="t" r="r" b="b"/>
              <a:pathLst>
                <a:path w="10588629" h="1463040">
                  <a:moveTo>
                    <a:pt x="0" y="0"/>
                  </a:moveTo>
                  <a:lnTo>
                    <a:pt x="10588630" y="0"/>
                  </a:lnTo>
                  <a:lnTo>
                    <a:pt x="1058863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10614430" cy="1488440"/>
            </a:xfrm>
            <a:custGeom>
              <a:avLst/>
              <a:gdLst/>
              <a:ahLst/>
              <a:cxnLst/>
              <a:rect l="l" t="t" r="r" b="b"/>
              <a:pathLst>
                <a:path w="10614430" h="1488440">
                  <a:moveTo>
                    <a:pt x="12900" y="0"/>
                  </a:moveTo>
                  <a:lnTo>
                    <a:pt x="10601530" y="0"/>
                  </a:lnTo>
                  <a:cubicBezTo>
                    <a:pt x="10608625" y="0"/>
                    <a:pt x="10614430" y="5715"/>
                    <a:pt x="10614430" y="12700"/>
                  </a:cubicBezTo>
                  <a:lnTo>
                    <a:pt x="10614430" y="1475740"/>
                  </a:lnTo>
                  <a:cubicBezTo>
                    <a:pt x="10614430" y="1482725"/>
                    <a:pt x="10608625" y="1488440"/>
                    <a:pt x="1060153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601530" y="1463040"/>
                  </a:lnTo>
                  <a:lnTo>
                    <a:pt x="10601530" y="1475740"/>
                  </a:lnTo>
                  <a:lnTo>
                    <a:pt x="10588629" y="1475740"/>
                  </a:lnTo>
                  <a:lnTo>
                    <a:pt x="10588629" y="12700"/>
                  </a:lnTo>
                  <a:lnTo>
                    <a:pt x="10601530" y="12700"/>
                  </a:lnTo>
                  <a:lnTo>
                    <a:pt x="1060153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11334" y="3790266"/>
            <a:ext cx="800156" cy="1136966"/>
            <a:chOff x="0" y="0"/>
            <a:chExt cx="1047511" cy="1488440"/>
          </a:xfrm>
        </p:grpSpPr>
        <p:sp>
          <p:nvSpPr>
            <p:cNvPr id="57" name="Freeform 57"/>
            <p:cNvSpPr/>
            <p:nvPr/>
          </p:nvSpPr>
          <p:spPr>
            <a:xfrm>
              <a:off x="12900" y="1270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1047511" cy="1488440"/>
            </a:xfrm>
            <a:custGeom>
              <a:avLst/>
              <a:gdLst/>
              <a:ahLst/>
              <a:cxnLst/>
              <a:rect l="l" t="t" r="r" b="b"/>
              <a:pathLst>
                <a:path w="1047511" h="1488440">
                  <a:moveTo>
                    <a:pt x="12900" y="0"/>
                  </a:moveTo>
                  <a:lnTo>
                    <a:pt x="1034610" y="0"/>
                  </a:lnTo>
                  <a:cubicBezTo>
                    <a:pt x="1041705" y="0"/>
                    <a:pt x="1047511" y="5715"/>
                    <a:pt x="1047511" y="12700"/>
                  </a:cubicBezTo>
                  <a:lnTo>
                    <a:pt x="1047511" y="1475740"/>
                  </a:lnTo>
                  <a:cubicBezTo>
                    <a:pt x="1047511" y="1482725"/>
                    <a:pt x="1041705" y="1488440"/>
                    <a:pt x="103461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34610" y="1463040"/>
                  </a:lnTo>
                  <a:lnTo>
                    <a:pt x="1034610" y="1475740"/>
                  </a:lnTo>
                  <a:lnTo>
                    <a:pt x="1021710" y="1475740"/>
                  </a:lnTo>
                  <a:lnTo>
                    <a:pt x="1021710" y="12700"/>
                  </a:lnTo>
                  <a:lnTo>
                    <a:pt x="1034610" y="12700"/>
                  </a:lnTo>
                  <a:lnTo>
                    <a:pt x="103461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321188" y="3799967"/>
            <a:ext cx="780448" cy="1117564"/>
            <a:chOff x="0" y="0"/>
            <a:chExt cx="1021710" cy="14630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501" r="-1329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2171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243536" y="3799967"/>
            <a:ext cx="7024031" cy="1117564"/>
            <a:chOff x="0" y="0"/>
            <a:chExt cx="9195389" cy="14630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95388" cy="1463040"/>
            </a:xfrm>
            <a:custGeom>
              <a:avLst/>
              <a:gdLst/>
              <a:ahLst/>
              <a:cxnLst/>
              <a:rect l="l" t="t" r="r" b="b"/>
              <a:pathLst>
                <a:path w="9195388" h="1463040">
                  <a:moveTo>
                    <a:pt x="0" y="0"/>
                  </a:moveTo>
                  <a:lnTo>
                    <a:pt x="9195388" y="0"/>
                  </a:lnTo>
                  <a:lnTo>
                    <a:pt x="91953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63" r="1553" b="-705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9195389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Features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11334" y="5326917"/>
            <a:ext cx="8107986" cy="1136966"/>
            <a:chOff x="0" y="0"/>
            <a:chExt cx="10614430" cy="1488440"/>
          </a:xfrm>
        </p:grpSpPr>
        <p:sp>
          <p:nvSpPr>
            <p:cNvPr id="66" name="Freeform 66"/>
            <p:cNvSpPr/>
            <p:nvPr/>
          </p:nvSpPr>
          <p:spPr>
            <a:xfrm>
              <a:off x="12900" y="12700"/>
              <a:ext cx="10588629" cy="1463040"/>
            </a:xfrm>
            <a:custGeom>
              <a:avLst/>
              <a:gdLst/>
              <a:ahLst/>
              <a:cxnLst/>
              <a:rect l="l" t="t" r="r" b="b"/>
              <a:pathLst>
                <a:path w="10588629" h="1463040">
                  <a:moveTo>
                    <a:pt x="0" y="0"/>
                  </a:moveTo>
                  <a:lnTo>
                    <a:pt x="10588630" y="0"/>
                  </a:lnTo>
                  <a:lnTo>
                    <a:pt x="1058863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0" y="0"/>
              <a:ext cx="10614430" cy="1488440"/>
            </a:xfrm>
            <a:custGeom>
              <a:avLst/>
              <a:gdLst/>
              <a:ahLst/>
              <a:cxnLst/>
              <a:rect l="l" t="t" r="r" b="b"/>
              <a:pathLst>
                <a:path w="10614430" h="1488440">
                  <a:moveTo>
                    <a:pt x="12900" y="0"/>
                  </a:moveTo>
                  <a:lnTo>
                    <a:pt x="10601530" y="0"/>
                  </a:lnTo>
                  <a:cubicBezTo>
                    <a:pt x="10608625" y="0"/>
                    <a:pt x="10614430" y="5715"/>
                    <a:pt x="10614430" y="12700"/>
                  </a:cubicBezTo>
                  <a:lnTo>
                    <a:pt x="10614430" y="1475740"/>
                  </a:lnTo>
                  <a:cubicBezTo>
                    <a:pt x="10614430" y="1482725"/>
                    <a:pt x="10608625" y="1488440"/>
                    <a:pt x="1060153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601530" y="1463040"/>
                  </a:lnTo>
                  <a:lnTo>
                    <a:pt x="10601530" y="1475740"/>
                  </a:lnTo>
                  <a:lnTo>
                    <a:pt x="10588629" y="1475740"/>
                  </a:lnTo>
                  <a:lnTo>
                    <a:pt x="10588629" y="12700"/>
                  </a:lnTo>
                  <a:lnTo>
                    <a:pt x="10601530" y="12700"/>
                  </a:lnTo>
                  <a:lnTo>
                    <a:pt x="1060153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311334" y="5326917"/>
            <a:ext cx="800156" cy="1136966"/>
            <a:chOff x="0" y="0"/>
            <a:chExt cx="1047511" cy="1488440"/>
          </a:xfrm>
        </p:grpSpPr>
        <p:sp>
          <p:nvSpPr>
            <p:cNvPr id="69" name="Freeform 69"/>
            <p:cNvSpPr/>
            <p:nvPr/>
          </p:nvSpPr>
          <p:spPr>
            <a:xfrm>
              <a:off x="12900" y="1270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1047511" cy="1488440"/>
            </a:xfrm>
            <a:custGeom>
              <a:avLst/>
              <a:gdLst/>
              <a:ahLst/>
              <a:cxnLst/>
              <a:rect l="l" t="t" r="r" b="b"/>
              <a:pathLst>
                <a:path w="1047511" h="1488440">
                  <a:moveTo>
                    <a:pt x="12900" y="0"/>
                  </a:moveTo>
                  <a:lnTo>
                    <a:pt x="1034610" y="0"/>
                  </a:lnTo>
                  <a:cubicBezTo>
                    <a:pt x="1041705" y="0"/>
                    <a:pt x="1047511" y="5715"/>
                    <a:pt x="1047511" y="12700"/>
                  </a:cubicBezTo>
                  <a:lnTo>
                    <a:pt x="1047511" y="1475740"/>
                  </a:lnTo>
                  <a:cubicBezTo>
                    <a:pt x="1047511" y="1482725"/>
                    <a:pt x="1041705" y="1488440"/>
                    <a:pt x="103461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34610" y="1463040"/>
                  </a:lnTo>
                  <a:lnTo>
                    <a:pt x="1034610" y="1475740"/>
                  </a:lnTo>
                  <a:lnTo>
                    <a:pt x="1021710" y="1475740"/>
                  </a:lnTo>
                  <a:lnTo>
                    <a:pt x="1021710" y="12700"/>
                  </a:lnTo>
                  <a:lnTo>
                    <a:pt x="1034610" y="12700"/>
                  </a:lnTo>
                  <a:lnTo>
                    <a:pt x="103461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21188" y="5336618"/>
            <a:ext cx="780448" cy="1117564"/>
            <a:chOff x="0" y="0"/>
            <a:chExt cx="1021710" cy="14630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501" r="-1329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02171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243536" y="5336618"/>
            <a:ext cx="7024031" cy="1117564"/>
            <a:chOff x="0" y="0"/>
            <a:chExt cx="9195389" cy="14630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195388" cy="1463040"/>
            </a:xfrm>
            <a:custGeom>
              <a:avLst/>
              <a:gdLst/>
              <a:ahLst/>
              <a:cxnLst/>
              <a:rect l="l" t="t" r="r" b="b"/>
              <a:pathLst>
                <a:path w="9195388" h="1463040">
                  <a:moveTo>
                    <a:pt x="0" y="0"/>
                  </a:moveTo>
                  <a:lnTo>
                    <a:pt x="9195388" y="0"/>
                  </a:lnTo>
                  <a:lnTo>
                    <a:pt x="91953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63" r="1553" b="-705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9195389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&amp; Future Scope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81513" y="5364651"/>
            <a:ext cx="8107986" cy="1136966"/>
            <a:chOff x="0" y="0"/>
            <a:chExt cx="10614430" cy="1488440"/>
          </a:xfrm>
        </p:grpSpPr>
        <p:sp>
          <p:nvSpPr>
            <p:cNvPr id="80" name="Freeform 80"/>
            <p:cNvSpPr/>
            <p:nvPr/>
          </p:nvSpPr>
          <p:spPr>
            <a:xfrm>
              <a:off x="12900" y="12700"/>
              <a:ext cx="10588629" cy="1463040"/>
            </a:xfrm>
            <a:custGeom>
              <a:avLst/>
              <a:gdLst/>
              <a:ahLst/>
              <a:cxnLst/>
              <a:rect l="l" t="t" r="r" b="b"/>
              <a:pathLst>
                <a:path w="10588629" h="1463040">
                  <a:moveTo>
                    <a:pt x="0" y="0"/>
                  </a:moveTo>
                  <a:lnTo>
                    <a:pt x="10588630" y="0"/>
                  </a:lnTo>
                  <a:lnTo>
                    <a:pt x="1058863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81"/>
            <p:cNvSpPr/>
            <p:nvPr/>
          </p:nvSpPr>
          <p:spPr>
            <a:xfrm>
              <a:off x="0" y="0"/>
              <a:ext cx="10614430" cy="1488440"/>
            </a:xfrm>
            <a:custGeom>
              <a:avLst/>
              <a:gdLst/>
              <a:ahLst/>
              <a:cxnLst/>
              <a:rect l="l" t="t" r="r" b="b"/>
              <a:pathLst>
                <a:path w="10614430" h="1488440">
                  <a:moveTo>
                    <a:pt x="12900" y="0"/>
                  </a:moveTo>
                  <a:lnTo>
                    <a:pt x="10601530" y="0"/>
                  </a:lnTo>
                  <a:cubicBezTo>
                    <a:pt x="10608625" y="0"/>
                    <a:pt x="10614430" y="5715"/>
                    <a:pt x="10614430" y="12700"/>
                  </a:cubicBezTo>
                  <a:lnTo>
                    <a:pt x="10614430" y="1475740"/>
                  </a:lnTo>
                  <a:cubicBezTo>
                    <a:pt x="10614430" y="1482725"/>
                    <a:pt x="10608625" y="1488440"/>
                    <a:pt x="1060153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601530" y="1463040"/>
                  </a:lnTo>
                  <a:lnTo>
                    <a:pt x="10601530" y="1475740"/>
                  </a:lnTo>
                  <a:lnTo>
                    <a:pt x="10588629" y="1475740"/>
                  </a:lnTo>
                  <a:lnTo>
                    <a:pt x="10588629" y="12700"/>
                  </a:lnTo>
                  <a:lnTo>
                    <a:pt x="10601530" y="12700"/>
                  </a:lnTo>
                  <a:lnTo>
                    <a:pt x="1060153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81513" y="5364651"/>
            <a:ext cx="800156" cy="1136966"/>
            <a:chOff x="0" y="0"/>
            <a:chExt cx="1047511" cy="1488440"/>
          </a:xfrm>
        </p:grpSpPr>
        <p:sp>
          <p:nvSpPr>
            <p:cNvPr id="83" name="Freeform 83"/>
            <p:cNvSpPr/>
            <p:nvPr/>
          </p:nvSpPr>
          <p:spPr>
            <a:xfrm>
              <a:off x="12900" y="1270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84"/>
            <p:cNvSpPr/>
            <p:nvPr/>
          </p:nvSpPr>
          <p:spPr>
            <a:xfrm>
              <a:off x="0" y="0"/>
              <a:ext cx="1047511" cy="1488440"/>
            </a:xfrm>
            <a:custGeom>
              <a:avLst/>
              <a:gdLst/>
              <a:ahLst/>
              <a:cxnLst/>
              <a:rect l="l" t="t" r="r" b="b"/>
              <a:pathLst>
                <a:path w="1047511" h="1488440">
                  <a:moveTo>
                    <a:pt x="12900" y="0"/>
                  </a:moveTo>
                  <a:lnTo>
                    <a:pt x="1034610" y="0"/>
                  </a:lnTo>
                  <a:cubicBezTo>
                    <a:pt x="1041705" y="0"/>
                    <a:pt x="1047511" y="5715"/>
                    <a:pt x="1047511" y="12700"/>
                  </a:cubicBezTo>
                  <a:lnTo>
                    <a:pt x="1047511" y="1475740"/>
                  </a:lnTo>
                  <a:cubicBezTo>
                    <a:pt x="1047511" y="1482725"/>
                    <a:pt x="1041705" y="1488440"/>
                    <a:pt x="1034610" y="1488440"/>
                  </a:cubicBezTo>
                  <a:lnTo>
                    <a:pt x="12900" y="1488440"/>
                  </a:lnTo>
                  <a:cubicBezTo>
                    <a:pt x="5805" y="1488440"/>
                    <a:pt x="0" y="1482725"/>
                    <a:pt x="0" y="1475740"/>
                  </a:cubicBezTo>
                  <a:lnTo>
                    <a:pt x="0" y="12700"/>
                  </a:lnTo>
                  <a:cubicBezTo>
                    <a:pt x="0" y="5715"/>
                    <a:pt x="5805" y="0"/>
                    <a:pt x="12900" y="0"/>
                  </a:cubicBezTo>
                  <a:moveTo>
                    <a:pt x="12900" y="25400"/>
                  </a:moveTo>
                  <a:lnTo>
                    <a:pt x="12900" y="12700"/>
                  </a:lnTo>
                  <a:lnTo>
                    <a:pt x="25801" y="12700"/>
                  </a:lnTo>
                  <a:lnTo>
                    <a:pt x="25801" y="1475740"/>
                  </a:lnTo>
                  <a:lnTo>
                    <a:pt x="12900" y="1475740"/>
                  </a:lnTo>
                  <a:lnTo>
                    <a:pt x="12900" y="1463040"/>
                  </a:lnTo>
                  <a:lnTo>
                    <a:pt x="1034610" y="1463040"/>
                  </a:lnTo>
                  <a:lnTo>
                    <a:pt x="1034610" y="1475740"/>
                  </a:lnTo>
                  <a:lnTo>
                    <a:pt x="1021710" y="1475740"/>
                  </a:lnTo>
                  <a:lnTo>
                    <a:pt x="1021710" y="12700"/>
                  </a:lnTo>
                  <a:lnTo>
                    <a:pt x="1034610" y="12700"/>
                  </a:lnTo>
                  <a:lnTo>
                    <a:pt x="1034610" y="25400"/>
                  </a:lnTo>
                  <a:lnTo>
                    <a:pt x="129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91367" y="5384053"/>
            <a:ext cx="780448" cy="1117564"/>
            <a:chOff x="0" y="0"/>
            <a:chExt cx="1021710" cy="14630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21710" cy="1463040"/>
            </a:xfrm>
            <a:custGeom>
              <a:avLst/>
              <a:gdLst/>
              <a:ahLst/>
              <a:cxnLst/>
              <a:rect l="l" t="t" r="r" b="b"/>
              <a:pathLst>
                <a:path w="1021710" h="1463040">
                  <a:moveTo>
                    <a:pt x="0" y="0"/>
                  </a:moveTo>
                  <a:lnTo>
                    <a:pt x="1021710" y="0"/>
                  </a:lnTo>
                  <a:lnTo>
                    <a:pt x="102171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501" r="-1329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102171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313714" y="5374352"/>
            <a:ext cx="7024031" cy="1117564"/>
            <a:chOff x="0" y="0"/>
            <a:chExt cx="9195389" cy="146304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9195388" cy="1463040"/>
            </a:xfrm>
            <a:custGeom>
              <a:avLst/>
              <a:gdLst/>
              <a:ahLst/>
              <a:cxnLst/>
              <a:rect l="l" t="t" r="r" b="b"/>
              <a:pathLst>
                <a:path w="9195388" h="1463040">
                  <a:moveTo>
                    <a:pt x="0" y="0"/>
                  </a:moveTo>
                  <a:lnTo>
                    <a:pt x="9195388" y="0"/>
                  </a:lnTo>
                  <a:lnTo>
                    <a:pt x="919538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63" r="1553" b="-7056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47625"/>
              <a:ext cx="9195389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Proposed Methodology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65A0D71-02EA-0273-A4C1-01D328E7C95B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4E266BE0-2972-35A1-824B-E81C0BB21842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129EC68F-393D-BB03-3455-1F2D67E6A4F0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49424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9115" y="2185035"/>
            <a:ext cx="17026890" cy="2762250"/>
            <a:chOff x="0" y="0"/>
            <a:chExt cx="22702520" cy="3683000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22677120" cy="3657600"/>
            </a:xfrm>
            <a:custGeom>
              <a:avLst/>
              <a:gdLst/>
              <a:ahLst/>
              <a:cxnLst/>
              <a:rect l="l" t="t" r="r" b="b"/>
              <a:pathLst>
                <a:path w="22677120" h="3657600">
                  <a:moveTo>
                    <a:pt x="0" y="0"/>
                  </a:moveTo>
                  <a:lnTo>
                    <a:pt x="22677120" y="0"/>
                  </a:lnTo>
                  <a:lnTo>
                    <a:pt x="22677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22702520" cy="3683000"/>
            </a:xfrm>
            <a:custGeom>
              <a:avLst/>
              <a:gdLst/>
              <a:ahLst/>
              <a:cxnLst/>
              <a:rect l="l" t="t" r="r" b="b"/>
              <a:pathLst>
                <a:path w="22702520" h="368300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3670300"/>
                  </a:lnTo>
                  <a:cubicBezTo>
                    <a:pt x="22702520" y="3677285"/>
                    <a:pt x="22696805" y="3683000"/>
                    <a:pt x="2268982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22689820" y="3657600"/>
                  </a:lnTo>
                  <a:lnTo>
                    <a:pt x="22689820" y="3670300"/>
                  </a:lnTo>
                  <a:lnTo>
                    <a:pt x="22677120" y="3670300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1540" y="2749677"/>
            <a:ext cx="16459200" cy="1895567"/>
            <a:chOff x="0" y="0"/>
            <a:chExt cx="21945600" cy="2527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2527423"/>
            </a:xfrm>
            <a:custGeom>
              <a:avLst/>
              <a:gdLst/>
              <a:ahLst/>
              <a:cxnLst/>
              <a:rect l="l" t="t" r="r" b="b"/>
              <a:pathLst>
                <a:path w="21945600" h="2527423">
                  <a:moveTo>
                    <a:pt x="0" y="0"/>
                  </a:moveTo>
                  <a:lnTo>
                    <a:pt x="21945600" y="0"/>
                  </a:lnTo>
                  <a:lnTo>
                    <a:pt x="21945600" y="2527423"/>
                  </a:lnTo>
                  <a:lnTo>
                    <a:pt x="0" y="25274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66" b="-13431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1945600" cy="2584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i="1">
                  <a:solidFill>
                    <a:srgbClr val="FFFFFF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Clinical documentation is time-consuming and repetitive.</a:t>
              </a:r>
            </a:p>
            <a:p>
              <a:pPr algn="l">
                <a:lnSpc>
                  <a:spcPts val="3479"/>
                </a:lnSpc>
              </a:pPr>
              <a:r>
                <a:rPr lang="en-US" sz="2899" i="1">
                  <a:solidFill>
                    <a:srgbClr val="FFFFFF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 Doctors manually create reports from patient symptoms, which can lead to inefficiency and inconsistency.</a:t>
              </a:r>
            </a:p>
            <a:p>
              <a:pPr algn="l">
                <a:lnSpc>
                  <a:spcPts val="3479"/>
                </a:lnSpc>
              </a:pPr>
              <a:r>
                <a:rPr lang="en-US" sz="2899" i="1">
                  <a:solidFill>
                    <a:srgbClr val="FFFFFF"/>
                  </a:solidFill>
                  <a:latin typeface="Times New Roman MT Italics"/>
                  <a:ea typeface="Times New Roman MT Italics"/>
                  <a:cs typeface="Times New Roman MT Italics"/>
                  <a:sym typeface="Times New Roman MT Italics"/>
                </a:rPr>
                <a:t>There is a need for an automated system that can generate structured medical reports using AI.</a:t>
              </a:r>
            </a:p>
            <a:p>
              <a:pPr algn="l">
                <a:lnSpc>
                  <a:spcPts val="3479"/>
                </a:lnSpc>
              </a:pPr>
              <a:endParaRPr lang="en-US" sz="2899" i="1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3878" y="5138738"/>
            <a:ext cx="7964805" cy="3783634"/>
            <a:chOff x="0" y="0"/>
            <a:chExt cx="10619740" cy="5044845"/>
          </a:xfrm>
        </p:grpSpPr>
        <p:sp>
          <p:nvSpPr>
            <p:cNvPr id="21" name="Freeform 21"/>
            <p:cNvSpPr/>
            <p:nvPr/>
          </p:nvSpPr>
          <p:spPr>
            <a:xfrm>
              <a:off x="6350" y="5297"/>
              <a:ext cx="10607040" cy="5034251"/>
            </a:xfrm>
            <a:custGeom>
              <a:avLst/>
              <a:gdLst/>
              <a:ahLst/>
              <a:cxnLst/>
              <a:rect l="l" t="t" r="r" b="b"/>
              <a:pathLst>
                <a:path w="10607040" h="5034251">
                  <a:moveTo>
                    <a:pt x="0" y="0"/>
                  </a:moveTo>
                  <a:lnTo>
                    <a:pt x="10607040" y="0"/>
                  </a:lnTo>
                  <a:lnTo>
                    <a:pt x="10607040" y="5034251"/>
                  </a:lnTo>
                  <a:lnTo>
                    <a:pt x="0" y="5034251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0619740" cy="5044845"/>
            </a:xfrm>
            <a:custGeom>
              <a:avLst/>
              <a:gdLst/>
              <a:ahLst/>
              <a:cxnLst/>
              <a:rect l="l" t="t" r="r" b="b"/>
              <a:pathLst>
                <a:path w="10619740" h="5044845">
                  <a:moveTo>
                    <a:pt x="6350" y="0"/>
                  </a:moveTo>
                  <a:lnTo>
                    <a:pt x="10613390" y="0"/>
                  </a:lnTo>
                  <a:cubicBezTo>
                    <a:pt x="10616947" y="0"/>
                    <a:pt x="10619740" y="2331"/>
                    <a:pt x="10619740" y="5297"/>
                  </a:cubicBezTo>
                  <a:lnTo>
                    <a:pt x="10619740" y="5039548"/>
                  </a:lnTo>
                  <a:cubicBezTo>
                    <a:pt x="10619740" y="5042514"/>
                    <a:pt x="10616947" y="5044845"/>
                    <a:pt x="10613390" y="5044845"/>
                  </a:cubicBezTo>
                  <a:lnTo>
                    <a:pt x="6350" y="5044845"/>
                  </a:lnTo>
                  <a:cubicBezTo>
                    <a:pt x="2794" y="5044845"/>
                    <a:pt x="0" y="5042514"/>
                    <a:pt x="0" y="5039548"/>
                  </a:cubicBezTo>
                  <a:lnTo>
                    <a:pt x="0" y="5297"/>
                  </a:lnTo>
                  <a:cubicBezTo>
                    <a:pt x="0" y="2331"/>
                    <a:pt x="2794" y="0"/>
                    <a:pt x="6350" y="0"/>
                  </a:cubicBezTo>
                  <a:moveTo>
                    <a:pt x="6350" y="10594"/>
                  </a:moveTo>
                  <a:lnTo>
                    <a:pt x="6350" y="5297"/>
                  </a:lnTo>
                  <a:lnTo>
                    <a:pt x="12700" y="5297"/>
                  </a:lnTo>
                  <a:lnTo>
                    <a:pt x="12700" y="5039548"/>
                  </a:lnTo>
                  <a:lnTo>
                    <a:pt x="6350" y="5039548"/>
                  </a:lnTo>
                  <a:lnTo>
                    <a:pt x="6350" y="5034251"/>
                  </a:lnTo>
                  <a:lnTo>
                    <a:pt x="10613390" y="5034251"/>
                  </a:lnTo>
                  <a:lnTo>
                    <a:pt x="10613390" y="5039548"/>
                  </a:lnTo>
                  <a:lnTo>
                    <a:pt x="10607040" y="5039548"/>
                  </a:lnTo>
                  <a:lnTo>
                    <a:pt x="10607040" y="5297"/>
                  </a:lnTo>
                  <a:lnTo>
                    <a:pt x="10613390" y="5297"/>
                  </a:lnTo>
                  <a:lnTo>
                    <a:pt x="10613390" y="10594"/>
                  </a:lnTo>
                  <a:lnTo>
                    <a:pt x="6350" y="10594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2960" y="5280660"/>
            <a:ext cx="7543800" cy="696085"/>
            <a:chOff x="0" y="0"/>
            <a:chExt cx="10058400" cy="9281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58400" cy="928114"/>
            </a:xfrm>
            <a:custGeom>
              <a:avLst/>
              <a:gdLst/>
              <a:ahLst/>
              <a:cxnLst/>
              <a:rect l="l" t="t" r="r" b="b"/>
              <a:pathLst>
                <a:path w="10058400" h="928114">
                  <a:moveTo>
                    <a:pt x="0" y="0"/>
                  </a:moveTo>
                  <a:lnTo>
                    <a:pt x="10058400" y="0"/>
                  </a:lnTo>
                  <a:lnTo>
                    <a:pt x="10058400" y="928114"/>
                  </a:lnTo>
                  <a:lnTo>
                    <a:pt x="0" y="928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729" b="-1486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0058400" cy="10043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9"/>
                </a:lnSpc>
              </a:pPr>
              <a:r>
                <a:rPr lang="en-US" sz="35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 Challenges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48640" y="5980810"/>
            <a:ext cx="6971670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268" lvl="1" indent="-281134" algn="l">
              <a:lnSpc>
                <a:spcPts val="3125"/>
              </a:lnSpc>
              <a:buFont typeface="Arial"/>
              <a:buChar char="•"/>
            </a:pPr>
            <a:r>
              <a:rPr lang="en-US" sz="2604" b="1">
                <a:solidFill>
                  <a:srgbClr val="1C1C3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Time-consuming process </a:t>
            </a:r>
            <a:r>
              <a:rPr lang="en-US" sz="260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– Doctors spend a lot of time writing reports manually</a:t>
            </a:r>
          </a:p>
          <a:p>
            <a:pPr marL="562268" lvl="1" indent="-281134" algn="l">
              <a:lnSpc>
                <a:spcPts val="3125"/>
              </a:lnSpc>
              <a:buFont typeface="Arial"/>
              <a:buChar char="•"/>
            </a:pPr>
            <a:r>
              <a:rPr lang="en-US" sz="2604" b="1">
                <a:solidFill>
                  <a:srgbClr val="1C1C3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Repetitive documentation</a:t>
            </a:r>
            <a:r>
              <a:rPr lang="en-US" sz="260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Similar information needs to be written again and again</a:t>
            </a:r>
          </a:p>
          <a:p>
            <a:pPr marL="562268" lvl="1" indent="-281134" algn="l">
              <a:lnSpc>
                <a:spcPts val="3125"/>
              </a:lnSpc>
              <a:buFont typeface="Arial"/>
              <a:buChar char="•"/>
            </a:pPr>
            <a:r>
              <a:rPr lang="en-US" sz="2604" b="1">
                <a:solidFill>
                  <a:srgbClr val="1C1C3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Inconsistent formatting</a:t>
            </a:r>
            <a:r>
              <a:rPr lang="en-US" sz="260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Reports may vary depending on the person writing them</a:t>
            </a:r>
          </a:p>
          <a:p>
            <a:pPr algn="l">
              <a:lnSpc>
                <a:spcPts val="3125"/>
              </a:lnSpc>
            </a:pPr>
            <a:endParaRPr lang="en-US" sz="2604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9459278" y="5138738"/>
            <a:ext cx="7964805" cy="3783634"/>
            <a:chOff x="0" y="0"/>
            <a:chExt cx="10619740" cy="5044845"/>
          </a:xfrm>
        </p:grpSpPr>
        <p:sp>
          <p:nvSpPr>
            <p:cNvPr id="28" name="Freeform 28"/>
            <p:cNvSpPr/>
            <p:nvPr/>
          </p:nvSpPr>
          <p:spPr>
            <a:xfrm>
              <a:off x="6350" y="5297"/>
              <a:ext cx="10607040" cy="5034251"/>
            </a:xfrm>
            <a:custGeom>
              <a:avLst/>
              <a:gdLst/>
              <a:ahLst/>
              <a:cxnLst/>
              <a:rect l="l" t="t" r="r" b="b"/>
              <a:pathLst>
                <a:path w="10607040" h="5034251">
                  <a:moveTo>
                    <a:pt x="0" y="0"/>
                  </a:moveTo>
                  <a:lnTo>
                    <a:pt x="10607040" y="0"/>
                  </a:lnTo>
                  <a:lnTo>
                    <a:pt x="10607040" y="5034251"/>
                  </a:lnTo>
                  <a:lnTo>
                    <a:pt x="0" y="5034251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0619740" cy="5044845"/>
            </a:xfrm>
            <a:custGeom>
              <a:avLst/>
              <a:gdLst/>
              <a:ahLst/>
              <a:cxnLst/>
              <a:rect l="l" t="t" r="r" b="b"/>
              <a:pathLst>
                <a:path w="10619740" h="5044845">
                  <a:moveTo>
                    <a:pt x="6350" y="0"/>
                  </a:moveTo>
                  <a:lnTo>
                    <a:pt x="10613390" y="0"/>
                  </a:lnTo>
                  <a:cubicBezTo>
                    <a:pt x="10616947" y="0"/>
                    <a:pt x="10619740" y="2331"/>
                    <a:pt x="10619740" y="5297"/>
                  </a:cubicBezTo>
                  <a:lnTo>
                    <a:pt x="10619740" y="5039548"/>
                  </a:lnTo>
                  <a:cubicBezTo>
                    <a:pt x="10619740" y="5042514"/>
                    <a:pt x="10616947" y="5044845"/>
                    <a:pt x="10613390" y="5044845"/>
                  </a:cubicBezTo>
                  <a:lnTo>
                    <a:pt x="6350" y="5044845"/>
                  </a:lnTo>
                  <a:cubicBezTo>
                    <a:pt x="2794" y="5044845"/>
                    <a:pt x="0" y="5042514"/>
                    <a:pt x="0" y="5039548"/>
                  </a:cubicBezTo>
                  <a:lnTo>
                    <a:pt x="0" y="5297"/>
                  </a:lnTo>
                  <a:cubicBezTo>
                    <a:pt x="0" y="2331"/>
                    <a:pt x="2794" y="0"/>
                    <a:pt x="6350" y="0"/>
                  </a:cubicBezTo>
                  <a:moveTo>
                    <a:pt x="6350" y="10594"/>
                  </a:moveTo>
                  <a:lnTo>
                    <a:pt x="6350" y="5297"/>
                  </a:lnTo>
                  <a:lnTo>
                    <a:pt x="12700" y="5297"/>
                  </a:lnTo>
                  <a:lnTo>
                    <a:pt x="12700" y="5039548"/>
                  </a:lnTo>
                  <a:lnTo>
                    <a:pt x="6350" y="5039548"/>
                  </a:lnTo>
                  <a:lnTo>
                    <a:pt x="6350" y="5034251"/>
                  </a:lnTo>
                  <a:lnTo>
                    <a:pt x="10613390" y="5034251"/>
                  </a:lnTo>
                  <a:lnTo>
                    <a:pt x="10613390" y="5039548"/>
                  </a:lnTo>
                  <a:lnTo>
                    <a:pt x="10607040" y="5039548"/>
                  </a:lnTo>
                  <a:lnTo>
                    <a:pt x="10607040" y="5297"/>
                  </a:lnTo>
                  <a:lnTo>
                    <a:pt x="10613390" y="5297"/>
                  </a:lnTo>
                  <a:lnTo>
                    <a:pt x="10613390" y="10594"/>
                  </a:lnTo>
                  <a:lnTo>
                    <a:pt x="6350" y="10594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738360" y="5280660"/>
            <a:ext cx="7543800" cy="696085"/>
            <a:chOff x="0" y="0"/>
            <a:chExt cx="10058400" cy="92811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58400" cy="928114"/>
            </a:xfrm>
            <a:custGeom>
              <a:avLst/>
              <a:gdLst/>
              <a:ahLst/>
              <a:cxnLst/>
              <a:rect l="l" t="t" r="r" b="b"/>
              <a:pathLst>
                <a:path w="10058400" h="928114">
                  <a:moveTo>
                    <a:pt x="0" y="0"/>
                  </a:moveTo>
                  <a:lnTo>
                    <a:pt x="10058400" y="0"/>
                  </a:lnTo>
                  <a:lnTo>
                    <a:pt x="10058400" y="928114"/>
                  </a:lnTo>
                  <a:lnTo>
                    <a:pt x="0" y="928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729" b="-1486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0058400" cy="10043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9"/>
                </a:lnSpc>
              </a:pPr>
              <a:r>
                <a:rPr lang="en-US" sz="35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Why Existing Solutions Fall Short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459278" y="5980810"/>
            <a:ext cx="7292340" cy="279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205" lvl="1" indent="-235103" algn="l">
              <a:lnSpc>
                <a:spcPts val="3120"/>
              </a:lnSpc>
              <a:buFont typeface="Arial"/>
              <a:buChar char="•"/>
            </a:pPr>
            <a:r>
              <a:rPr lang="en-US" sz="2600" b="1">
                <a:solidFill>
                  <a:srgbClr val="1C1C3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Mostly manual systems </a:t>
            </a:r>
            <a:r>
              <a:rPr lang="en-US" sz="2600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– Require human effort for report creation</a:t>
            </a:r>
          </a:p>
          <a:p>
            <a:pPr marL="470205" lvl="1" indent="-235103" algn="l">
              <a:lnSpc>
                <a:spcPts val="3120"/>
              </a:lnSpc>
              <a:buFont typeface="Arial"/>
              <a:buChar char="•"/>
            </a:pPr>
            <a:r>
              <a:rPr lang="en-US" sz="2600" b="1">
                <a:solidFill>
                  <a:srgbClr val="1C1C3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Lack of automation</a:t>
            </a:r>
            <a:r>
              <a:rPr lang="en-US" sz="2600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Cannot generate reports automatically in real time</a:t>
            </a:r>
          </a:p>
          <a:p>
            <a:pPr marL="470205" lvl="1" indent="-235103" algn="l">
              <a:lnSpc>
                <a:spcPts val="3120"/>
              </a:lnSpc>
              <a:buFont typeface="Arial"/>
              <a:buChar char="•"/>
            </a:pPr>
            <a:r>
              <a:rPr lang="en-US" sz="2600" b="1">
                <a:solidFill>
                  <a:srgbClr val="1C1C3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Limited intelligence</a:t>
            </a:r>
            <a:r>
              <a:rPr lang="en-US" sz="2600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Do not use AI to understand and structure data</a:t>
            </a:r>
          </a:p>
          <a:p>
            <a:pPr algn="l">
              <a:lnSpc>
                <a:spcPts val="3120"/>
              </a:lnSpc>
            </a:pPr>
            <a:endParaRPr lang="en-US" sz="2600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87960A-0D1A-00B4-5143-6617C74A0D7A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5FFBC0D-381E-7A82-DB4C-3A967B4AB72F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AB6010A-7833-ECD7-3446-87BE696CCD1F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49424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Motivation — Why This Matters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9115" y="2253615"/>
            <a:ext cx="3928110" cy="2230755"/>
            <a:chOff x="0" y="0"/>
            <a:chExt cx="5237480" cy="2974340"/>
          </a:xfrm>
        </p:grpSpPr>
        <p:sp>
          <p:nvSpPr>
            <p:cNvPr id="15" name="Freeform 15"/>
            <p:cNvSpPr/>
            <p:nvPr/>
          </p:nvSpPr>
          <p:spPr>
            <a:xfrm>
              <a:off x="12700" y="15721"/>
              <a:ext cx="5212080" cy="2942899"/>
            </a:xfrm>
            <a:custGeom>
              <a:avLst/>
              <a:gdLst/>
              <a:ahLst/>
              <a:cxnLst/>
              <a:rect l="l" t="t" r="r" b="b"/>
              <a:pathLst>
                <a:path w="5212080" h="2942899">
                  <a:moveTo>
                    <a:pt x="0" y="0"/>
                  </a:moveTo>
                  <a:lnTo>
                    <a:pt x="5212080" y="0"/>
                  </a:lnTo>
                  <a:lnTo>
                    <a:pt x="5212080" y="2942898"/>
                  </a:lnTo>
                  <a:lnTo>
                    <a:pt x="0" y="2942898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237480" cy="2974340"/>
            </a:xfrm>
            <a:custGeom>
              <a:avLst/>
              <a:gdLst/>
              <a:ahLst/>
              <a:cxnLst/>
              <a:rect l="l" t="t" r="r" b="b"/>
              <a:pathLst>
                <a:path w="5237480" h="2974340">
                  <a:moveTo>
                    <a:pt x="12700" y="0"/>
                  </a:moveTo>
                  <a:lnTo>
                    <a:pt x="5224780" y="0"/>
                  </a:lnTo>
                  <a:cubicBezTo>
                    <a:pt x="5231765" y="0"/>
                    <a:pt x="5237480" y="7074"/>
                    <a:pt x="5237480" y="15721"/>
                  </a:cubicBezTo>
                  <a:lnTo>
                    <a:pt x="5237480" y="2958619"/>
                  </a:lnTo>
                  <a:cubicBezTo>
                    <a:pt x="5237480" y="2967266"/>
                    <a:pt x="5231765" y="2974340"/>
                    <a:pt x="5224780" y="2974340"/>
                  </a:cubicBezTo>
                  <a:lnTo>
                    <a:pt x="12700" y="2974340"/>
                  </a:lnTo>
                  <a:cubicBezTo>
                    <a:pt x="5715" y="2974340"/>
                    <a:pt x="0" y="2967266"/>
                    <a:pt x="0" y="2958619"/>
                  </a:cubicBezTo>
                  <a:lnTo>
                    <a:pt x="0" y="15721"/>
                  </a:lnTo>
                  <a:cubicBezTo>
                    <a:pt x="0" y="7074"/>
                    <a:pt x="5715" y="0"/>
                    <a:pt x="12700" y="0"/>
                  </a:cubicBezTo>
                  <a:moveTo>
                    <a:pt x="12700" y="31441"/>
                  </a:moveTo>
                  <a:lnTo>
                    <a:pt x="12700" y="15721"/>
                  </a:lnTo>
                  <a:lnTo>
                    <a:pt x="25400" y="15721"/>
                  </a:lnTo>
                  <a:lnTo>
                    <a:pt x="25400" y="2958619"/>
                  </a:lnTo>
                  <a:lnTo>
                    <a:pt x="12700" y="2958619"/>
                  </a:lnTo>
                  <a:lnTo>
                    <a:pt x="12700" y="2942899"/>
                  </a:lnTo>
                  <a:lnTo>
                    <a:pt x="5224780" y="2942899"/>
                  </a:lnTo>
                  <a:lnTo>
                    <a:pt x="5224780" y="2958619"/>
                  </a:lnTo>
                  <a:lnTo>
                    <a:pt x="5212080" y="2958619"/>
                  </a:lnTo>
                  <a:lnTo>
                    <a:pt x="5212080" y="15721"/>
                  </a:lnTo>
                  <a:lnTo>
                    <a:pt x="5224780" y="15721"/>
                  </a:lnTo>
                  <a:lnTo>
                    <a:pt x="5224780" y="31441"/>
                  </a:lnTo>
                  <a:lnTo>
                    <a:pt x="12700" y="31441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4743" y="2396923"/>
            <a:ext cx="3617803" cy="893339"/>
            <a:chOff x="0" y="0"/>
            <a:chExt cx="5212080" cy="12870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12080" cy="1287011"/>
            </a:xfrm>
            <a:custGeom>
              <a:avLst/>
              <a:gdLst/>
              <a:ahLst/>
              <a:cxnLst/>
              <a:rect l="l" t="t" r="r" b="b"/>
              <a:pathLst>
                <a:path w="5212080" h="1287011">
                  <a:moveTo>
                    <a:pt x="0" y="0"/>
                  </a:moveTo>
                  <a:lnTo>
                    <a:pt x="5212080" y="0"/>
                  </a:lnTo>
                  <a:lnTo>
                    <a:pt x="5212080" y="1287011"/>
                  </a:lnTo>
                  <a:lnTo>
                    <a:pt x="0" y="12870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728" b="-2509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212080" cy="132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Time Consumption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8597" y="3167413"/>
            <a:ext cx="3570095" cy="930742"/>
            <a:chOff x="0" y="0"/>
            <a:chExt cx="4243801" cy="11063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43801" cy="1106380"/>
            </a:xfrm>
            <a:custGeom>
              <a:avLst/>
              <a:gdLst/>
              <a:ahLst/>
              <a:cxnLst/>
              <a:rect l="l" t="t" r="r" b="b"/>
              <a:pathLst>
                <a:path w="4243801" h="1106380">
                  <a:moveTo>
                    <a:pt x="0" y="0"/>
                  </a:moveTo>
                  <a:lnTo>
                    <a:pt x="4243801" y="0"/>
                  </a:lnTo>
                  <a:lnTo>
                    <a:pt x="4243801" y="1106380"/>
                  </a:lnTo>
                  <a:lnTo>
                    <a:pt x="0" y="1106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33" r="-22816" b="-248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4243801" cy="116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79"/>
                </a:lnSpc>
              </a:pPr>
              <a:r>
                <a:rPr lang="en-US" sz="2649">
                  <a:solidFill>
                    <a:srgbClr val="D6E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report writing takes significant time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28235" y="2253615"/>
            <a:ext cx="3928110" cy="2230755"/>
            <a:chOff x="0" y="0"/>
            <a:chExt cx="5237480" cy="2974340"/>
          </a:xfrm>
        </p:grpSpPr>
        <p:sp>
          <p:nvSpPr>
            <p:cNvPr id="24" name="Freeform 24"/>
            <p:cNvSpPr/>
            <p:nvPr/>
          </p:nvSpPr>
          <p:spPr>
            <a:xfrm>
              <a:off x="12700" y="15721"/>
              <a:ext cx="5212080" cy="2942899"/>
            </a:xfrm>
            <a:custGeom>
              <a:avLst/>
              <a:gdLst/>
              <a:ahLst/>
              <a:cxnLst/>
              <a:rect l="l" t="t" r="r" b="b"/>
              <a:pathLst>
                <a:path w="5212080" h="2942899">
                  <a:moveTo>
                    <a:pt x="0" y="0"/>
                  </a:moveTo>
                  <a:lnTo>
                    <a:pt x="5212080" y="0"/>
                  </a:lnTo>
                  <a:lnTo>
                    <a:pt x="5212080" y="2942898"/>
                  </a:lnTo>
                  <a:lnTo>
                    <a:pt x="0" y="2942898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5237480" cy="2974340"/>
            </a:xfrm>
            <a:custGeom>
              <a:avLst/>
              <a:gdLst/>
              <a:ahLst/>
              <a:cxnLst/>
              <a:rect l="l" t="t" r="r" b="b"/>
              <a:pathLst>
                <a:path w="5237480" h="2974340">
                  <a:moveTo>
                    <a:pt x="12700" y="0"/>
                  </a:moveTo>
                  <a:lnTo>
                    <a:pt x="5224780" y="0"/>
                  </a:lnTo>
                  <a:cubicBezTo>
                    <a:pt x="5231765" y="0"/>
                    <a:pt x="5237480" y="7074"/>
                    <a:pt x="5237480" y="15721"/>
                  </a:cubicBezTo>
                  <a:lnTo>
                    <a:pt x="5237480" y="2958619"/>
                  </a:lnTo>
                  <a:cubicBezTo>
                    <a:pt x="5237480" y="2967266"/>
                    <a:pt x="5231765" y="2974340"/>
                    <a:pt x="5224780" y="2974340"/>
                  </a:cubicBezTo>
                  <a:lnTo>
                    <a:pt x="12700" y="2974340"/>
                  </a:lnTo>
                  <a:cubicBezTo>
                    <a:pt x="5715" y="2974340"/>
                    <a:pt x="0" y="2967266"/>
                    <a:pt x="0" y="2958619"/>
                  </a:cubicBezTo>
                  <a:lnTo>
                    <a:pt x="0" y="15721"/>
                  </a:lnTo>
                  <a:cubicBezTo>
                    <a:pt x="0" y="7074"/>
                    <a:pt x="5715" y="0"/>
                    <a:pt x="12700" y="0"/>
                  </a:cubicBezTo>
                  <a:moveTo>
                    <a:pt x="12700" y="31441"/>
                  </a:moveTo>
                  <a:lnTo>
                    <a:pt x="12700" y="15721"/>
                  </a:lnTo>
                  <a:lnTo>
                    <a:pt x="25400" y="15721"/>
                  </a:lnTo>
                  <a:lnTo>
                    <a:pt x="25400" y="2958619"/>
                  </a:lnTo>
                  <a:lnTo>
                    <a:pt x="12700" y="2958619"/>
                  </a:lnTo>
                  <a:lnTo>
                    <a:pt x="12700" y="2942899"/>
                  </a:lnTo>
                  <a:lnTo>
                    <a:pt x="5224780" y="2942899"/>
                  </a:lnTo>
                  <a:lnTo>
                    <a:pt x="5224780" y="2958619"/>
                  </a:lnTo>
                  <a:lnTo>
                    <a:pt x="5212080" y="2958619"/>
                  </a:lnTo>
                  <a:lnTo>
                    <a:pt x="5212080" y="15721"/>
                  </a:lnTo>
                  <a:lnTo>
                    <a:pt x="5224780" y="15721"/>
                  </a:lnTo>
                  <a:lnTo>
                    <a:pt x="5224780" y="31441"/>
                  </a:lnTo>
                  <a:lnTo>
                    <a:pt x="12700" y="31441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37760" y="2577596"/>
            <a:ext cx="3909060" cy="531995"/>
            <a:chOff x="0" y="0"/>
            <a:chExt cx="5212080" cy="7093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12080" cy="709326"/>
            </a:xfrm>
            <a:custGeom>
              <a:avLst/>
              <a:gdLst/>
              <a:ahLst/>
              <a:cxnLst/>
              <a:rect l="l" t="t" r="r" b="b"/>
              <a:pathLst>
                <a:path w="5212080" h="709326">
                  <a:moveTo>
                    <a:pt x="0" y="0"/>
                  </a:moveTo>
                  <a:lnTo>
                    <a:pt x="5212080" y="0"/>
                  </a:lnTo>
                  <a:lnTo>
                    <a:pt x="5212080" y="709326"/>
                  </a:lnTo>
                  <a:lnTo>
                    <a:pt x="0" y="709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382" b="-1269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212080" cy="747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Growing Healthcare Needs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87210" y="3167413"/>
            <a:ext cx="3210159" cy="1730842"/>
            <a:chOff x="0" y="0"/>
            <a:chExt cx="4280212" cy="230778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80212" cy="2307789"/>
            </a:xfrm>
            <a:custGeom>
              <a:avLst/>
              <a:gdLst/>
              <a:ahLst/>
              <a:cxnLst/>
              <a:rect l="l" t="t" r="r" b="b"/>
              <a:pathLst>
                <a:path w="4280212" h="2307789">
                  <a:moveTo>
                    <a:pt x="0" y="0"/>
                  </a:moveTo>
                  <a:lnTo>
                    <a:pt x="4280212" y="0"/>
                  </a:lnTo>
                  <a:lnTo>
                    <a:pt x="4280212" y="2307789"/>
                  </a:lnTo>
                  <a:lnTo>
                    <a:pt x="0" y="23077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57" r="-21771" b="4014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4280212" cy="2364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79"/>
                </a:lnSpc>
              </a:pPr>
              <a:r>
                <a:rPr lang="en-US" sz="2649">
                  <a:solidFill>
                    <a:srgbClr val="D6E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Increasing demand for faster documentation</a:t>
              </a:r>
            </a:p>
            <a:p>
              <a:pPr algn="ctr">
                <a:lnSpc>
                  <a:spcPts val="3179"/>
                </a:lnSpc>
              </a:pPr>
              <a:endParaRPr lang="en-US" sz="2649">
                <a:solidFill>
                  <a:srgbClr val="D6E4F7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3179"/>
                </a:lnSpc>
              </a:pPr>
              <a:endParaRPr lang="en-US" sz="2649">
                <a:solidFill>
                  <a:srgbClr val="D6E4F7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17355" y="2253615"/>
            <a:ext cx="3928110" cy="2230755"/>
            <a:chOff x="0" y="0"/>
            <a:chExt cx="5237480" cy="2974340"/>
          </a:xfrm>
        </p:grpSpPr>
        <p:sp>
          <p:nvSpPr>
            <p:cNvPr id="33" name="Freeform 33"/>
            <p:cNvSpPr/>
            <p:nvPr/>
          </p:nvSpPr>
          <p:spPr>
            <a:xfrm>
              <a:off x="12700" y="15721"/>
              <a:ext cx="5212080" cy="2942899"/>
            </a:xfrm>
            <a:custGeom>
              <a:avLst/>
              <a:gdLst/>
              <a:ahLst/>
              <a:cxnLst/>
              <a:rect l="l" t="t" r="r" b="b"/>
              <a:pathLst>
                <a:path w="5212080" h="2942899">
                  <a:moveTo>
                    <a:pt x="0" y="0"/>
                  </a:moveTo>
                  <a:lnTo>
                    <a:pt x="5212080" y="0"/>
                  </a:lnTo>
                  <a:lnTo>
                    <a:pt x="5212080" y="2942898"/>
                  </a:lnTo>
                  <a:lnTo>
                    <a:pt x="0" y="2942898"/>
                  </a:ln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5237480" cy="2974340"/>
            </a:xfrm>
            <a:custGeom>
              <a:avLst/>
              <a:gdLst/>
              <a:ahLst/>
              <a:cxnLst/>
              <a:rect l="l" t="t" r="r" b="b"/>
              <a:pathLst>
                <a:path w="5237480" h="2974340">
                  <a:moveTo>
                    <a:pt x="12700" y="0"/>
                  </a:moveTo>
                  <a:lnTo>
                    <a:pt x="5224780" y="0"/>
                  </a:lnTo>
                  <a:cubicBezTo>
                    <a:pt x="5231765" y="0"/>
                    <a:pt x="5237480" y="7074"/>
                    <a:pt x="5237480" y="15721"/>
                  </a:cubicBezTo>
                  <a:lnTo>
                    <a:pt x="5237480" y="2958619"/>
                  </a:lnTo>
                  <a:cubicBezTo>
                    <a:pt x="5237480" y="2967266"/>
                    <a:pt x="5231765" y="2974340"/>
                    <a:pt x="5224780" y="2974340"/>
                  </a:cubicBezTo>
                  <a:lnTo>
                    <a:pt x="12700" y="2974340"/>
                  </a:lnTo>
                  <a:cubicBezTo>
                    <a:pt x="5715" y="2974340"/>
                    <a:pt x="0" y="2967266"/>
                    <a:pt x="0" y="2958619"/>
                  </a:cubicBezTo>
                  <a:lnTo>
                    <a:pt x="0" y="15721"/>
                  </a:lnTo>
                  <a:cubicBezTo>
                    <a:pt x="0" y="7074"/>
                    <a:pt x="5715" y="0"/>
                    <a:pt x="12700" y="0"/>
                  </a:cubicBezTo>
                  <a:moveTo>
                    <a:pt x="12700" y="31441"/>
                  </a:moveTo>
                  <a:lnTo>
                    <a:pt x="12700" y="15721"/>
                  </a:lnTo>
                  <a:lnTo>
                    <a:pt x="25400" y="15721"/>
                  </a:lnTo>
                  <a:lnTo>
                    <a:pt x="25400" y="2958619"/>
                  </a:lnTo>
                  <a:lnTo>
                    <a:pt x="12700" y="2958619"/>
                  </a:lnTo>
                  <a:lnTo>
                    <a:pt x="12700" y="2942899"/>
                  </a:lnTo>
                  <a:lnTo>
                    <a:pt x="5224780" y="2942899"/>
                  </a:lnTo>
                  <a:lnTo>
                    <a:pt x="5224780" y="2958619"/>
                  </a:lnTo>
                  <a:lnTo>
                    <a:pt x="5212080" y="2958619"/>
                  </a:lnTo>
                  <a:lnTo>
                    <a:pt x="5212080" y="15721"/>
                  </a:lnTo>
                  <a:lnTo>
                    <a:pt x="5224780" y="15721"/>
                  </a:lnTo>
                  <a:lnTo>
                    <a:pt x="5224780" y="31441"/>
                  </a:lnTo>
                  <a:lnTo>
                    <a:pt x="12700" y="31441"/>
                  </a:ln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26880" y="2535465"/>
            <a:ext cx="3909060" cy="494723"/>
            <a:chOff x="0" y="0"/>
            <a:chExt cx="5212080" cy="65963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12080" cy="659631"/>
            </a:xfrm>
            <a:custGeom>
              <a:avLst/>
              <a:gdLst/>
              <a:ahLst/>
              <a:cxnLst/>
              <a:rect l="l" t="t" r="r" b="b"/>
              <a:pathLst>
                <a:path w="5212080" h="659631">
                  <a:moveTo>
                    <a:pt x="0" y="0"/>
                  </a:moveTo>
                  <a:lnTo>
                    <a:pt x="5212080" y="0"/>
                  </a:lnTo>
                  <a:lnTo>
                    <a:pt x="5212080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856" b="-14406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212080" cy="6977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Millions Affected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36405" y="3167413"/>
            <a:ext cx="3909060" cy="930742"/>
            <a:chOff x="0" y="0"/>
            <a:chExt cx="5212080" cy="124098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12080" cy="1240989"/>
            </a:xfrm>
            <a:custGeom>
              <a:avLst/>
              <a:gdLst/>
              <a:ahLst/>
              <a:cxnLst/>
              <a:rect l="l" t="t" r="r" b="b"/>
              <a:pathLst>
                <a:path w="5212080" h="1240989">
                  <a:moveTo>
                    <a:pt x="0" y="0"/>
                  </a:moveTo>
                  <a:lnTo>
                    <a:pt x="5212080" y="0"/>
                  </a:lnTo>
                  <a:lnTo>
                    <a:pt x="5212080" y="1240989"/>
                  </a:lnTo>
                  <a:lnTo>
                    <a:pt x="0" y="1240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62" b="-1130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5212080" cy="1298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79"/>
                </a:lnSpc>
              </a:pPr>
              <a:r>
                <a:rPr lang="en-US" sz="2649">
                  <a:solidFill>
                    <a:srgbClr val="D6E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number of patients handled daily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706475" y="2253615"/>
            <a:ext cx="3928110" cy="2230755"/>
            <a:chOff x="0" y="0"/>
            <a:chExt cx="5237480" cy="2974340"/>
          </a:xfrm>
        </p:grpSpPr>
        <p:sp>
          <p:nvSpPr>
            <p:cNvPr id="42" name="Freeform 42"/>
            <p:cNvSpPr/>
            <p:nvPr/>
          </p:nvSpPr>
          <p:spPr>
            <a:xfrm>
              <a:off x="12700" y="15721"/>
              <a:ext cx="5212080" cy="2942899"/>
            </a:xfrm>
            <a:custGeom>
              <a:avLst/>
              <a:gdLst/>
              <a:ahLst/>
              <a:cxnLst/>
              <a:rect l="l" t="t" r="r" b="b"/>
              <a:pathLst>
                <a:path w="5212080" h="2942899">
                  <a:moveTo>
                    <a:pt x="0" y="0"/>
                  </a:moveTo>
                  <a:lnTo>
                    <a:pt x="5212080" y="0"/>
                  </a:lnTo>
                  <a:lnTo>
                    <a:pt x="5212080" y="2942898"/>
                  </a:lnTo>
                  <a:lnTo>
                    <a:pt x="0" y="2942898"/>
                  </a:lnTo>
                  <a:close/>
                </a:path>
              </a:pathLst>
            </a:custGeom>
            <a:solidFill>
              <a:srgbClr val="B850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5237480" cy="2974340"/>
            </a:xfrm>
            <a:custGeom>
              <a:avLst/>
              <a:gdLst/>
              <a:ahLst/>
              <a:cxnLst/>
              <a:rect l="l" t="t" r="r" b="b"/>
              <a:pathLst>
                <a:path w="5237480" h="2974340">
                  <a:moveTo>
                    <a:pt x="12700" y="0"/>
                  </a:moveTo>
                  <a:lnTo>
                    <a:pt x="5224780" y="0"/>
                  </a:lnTo>
                  <a:cubicBezTo>
                    <a:pt x="5231765" y="0"/>
                    <a:pt x="5237480" y="7074"/>
                    <a:pt x="5237480" y="15721"/>
                  </a:cubicBezTo>
                  <a:lnTo>
                    <a:pt x="5237480" y="2958619"/>
                  </a:lnTo>
                  <a:cubicBezTo>
                    <a:pt x="5237480" y="2967266"/>
                    <a:pt x="5231765" y="2974340"/>
                    <a:pt x="5224780" y="2974340"/>
                  </a:cubicBezTo>
                  <a:lnTo>
                    <a:pt x="12700" y="2974340"/>
                  </a:lnTo>
                  <a:cubicBezTo>
                    <a:pt x="5715" y="2974340"/>
                    <a:pt x="0" y="2967266"/>
                    <a:pt x="0" y="2958619"/>
                  </a:cubicBezTo>
                  <a:lnTo>
                    <a:pt x="0" y="15721"/>
                  </a:lnTo>
                  <a:cubicBezTo>
                    <a:pt x="0" y="7074"/>
                    <a:pt x="5715" y="0"/>
                    <a:pt x="12700" y="0"/>
                  </a:cubicBezTo>
                  <a:moveTo>
                    <a:pt x="12700" y="31441"/>
                  </a:moveTo>
                  <a:lnTo>
                    <a:pt x="12700" y="15721"/>
                  </a:lnTo>
                  <a:lnTo>
                    <a:pt x="25400" y="15721"/>
                  </a:lnTo>
                  <a:lnTo>
                    <a:pt x="25400" y="2958619"/>
                  </a:lnTo>
                  <a:lnTo>
                    <a:pt x="12700" y="2958619"/>
                  </a:lnTo>
                  <a:lnTo>
                    <a:pt x="12700" y="2942899"/>
                  </a:lnTo>
                  <a:lnTo>
                    <a:pt x="5224780" y="2942899"/>
                  </a:lnTo>
                  <a:lnTo>
                    <a:pt x="5224780" y="2958619"/>
                  </a:lnTo>
                  <a:lnTo>
                    <a:pt x="5212080" y="2958619"/>
                  </a:lnTo>
                  <a:lnTo>
                    <a:pt x="5212080" y="15721"/>
                  </a:lnTo>
                  <a:lnTo>
                    <a:pt x="5224780" y="15721"/>
                  </a:lnTo>
                  <a:lnTo>
                    <a:pt x="5224780" y="31441"/>
                  </a:lnTo>
                  <a:lnTo>
                    <a:pt x="12700" y="31441"/>
                  </a:lnTo>
                  <a:close/>
                </a:path>
              </a:pathLst>
            </a:custGeom>
            <a:solidFill>
              <a:srgbClr val="B8504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716000" y="2275873"/>
            <a:ext cx="3909060" cy="891540"/>
            <a:chOff x="0" y="0"/>
            <a:chExt cx="5212080" cy="1188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212080" cy="1188720"/>
            </a:xfrm>
            <a:custGeom>
              <a:avLst/>
              <a:gdLst/>
              <a:ahLst/>
              <a:cxnLst/>
              <a:rect l="l" t="t" r="r" b="b"/>
              <a:pathLst>
                <a:path w="5212080" h="118872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434" b="-3543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521208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Efficiency Gap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702665" y="3167413"/>
            <a:ext cx="3909060" cy="930742"/>
            <a:chOff x="0" y="0"/>
            <a:chExt cx="5212080" cy="124098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212080" cy="1240989"/>
            </a:xfrm>
            <a:custGeom>
              <a:avLst/>
              <a:gdLst/>
              <a:ahLst/>
              <a:cxnLst/>
              <a:rect l="l" t="t" r="r" b="b"/>
              <a:pathLst>
                <a:path w="5212080" h="1240989">
                  <a:moveTo>
                    <a:pt x="0" y="0"/>
                  </a:moveTo>
                  <a:lnTo>
                    <a:pt x="5212080" y="0"/>
                  </a:lnTo>
                  <a:lnTo>
                    <a:pt x="5212080" y="1240989"/>
                  </a:lnTo>
                  <a:lnTo>
                    <a:pt x="0" y="1240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62" b="-1130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5212080" cy="12981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79"/>
                </a:lnSpc>
              </a:pPr>
              <a:r>
                <a:rPr lang="en-US" sz="2649">
                  <a:solidFill>
                    <a:srgbClr val="D6E4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systems vs AI automation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3878" y="4741545"/>
            <a:ext cx="7964805" cy="3557036"/>
            <a:chOff x="0" y="0"/>
            <a:chExt cx="10619740" cy="4742715"/>
          </a:xfrm>
        </p:grpSpPr>
        <p:sp>
          <p:nvSpPr>
            <p:cNvPr id="51" name="Freeform 51"/>
            <p:cNvSpPr/>
            <p:nvPr/>
          </p:nvSpPr>
          <p:spPr>
            <a:xfrm>
              <a:off x="6350" y="4270"/>
              <a:ext cx="10607040" cy="4734176"/>
            </a:xfrm>
            <a:custGeom>
              <a:avLst/>
              <a:gdLst/>
              <a:ahLst/>
              <a:cxnLst/>
              <a:rect l="l" t="t" r="r" b="b"/>
              <a:pathLst>
                <a:path w="10607040" h="4734176">
                  <a:moveTo>
                    <a:pt x="0" y="0"/>
                  </a:moveTo>
                  <a:lnTo>
                    <a:pt x="10607040" y="0"/>
                  </a:lnTo>
                  <a:lnTo>
                    <a:pt x="10607040" y="4734176"/>
                  </a:lnTo>
                  <a:lnTo>
                    <a:pt x="0" y="4734176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10619740" cy="4742715"/>
            </a:xfrm>
            <a:custGeom>
              <a:avLst/>
              <a:gdLst/>
              <a:ahLst/>
              <a:cxnLst/>
              <a:rect l="l" t="t" r="r" b="b"/>
              <a:pathLst>
                <a:path w="10619740" h="4742715">
                  <a:moveTo>
                    <a:pt x="6350" y="0"/>
                  </a:moveTo>
                  <a:lnTo>
                    <a:pt x="10613390" y="0"/>
                  </a:lnTo>
                  <a:cubicBezTo>
                    <a:pt x="10616947" y="0"/>
                    <a:pt x="10619740" y="1879"/>
                    <a:pt x="10619740" y="4270"/>
                  </a:cubicBezTo>
                  <a:lnTo>
                    <a:pt x="10619740" y="4738446"/>
                  </a:lnTo>
                  <a:cubicBezTo>
                    <a:pt x="10619740" y="4740837"/>
                    <a:pt x="10616947" y="4742715"/>
                    <a:pt x="10613390" y="4742715"/>
                  </a:cubicBezTo>
                  <a:lnTo>
                    <a:pt x="6350" y="4742715"/>
                  </a:lnTo>
                  <a:cubicBezTo>
                    <a:pt x="2794" y="4742715"/>
                    <a:pt x="0" y="4740837"/>
                    <a:pt x="0" y="4738446"/>
                  </a:cubicBezTo>
                  <a:lnTo>
                    <a:pt x="0" y="4270"/>
                  </a:lnTo>
                  <a:cubicBezTo>
                    <a:pt x="0" y="1879"/>
                    <a:pt x="2794" y="0"/>
                    <a:pt x="6350" y="0"/>
                  </a:cubicBezTo>
                  <a:moveTo>
                    <a:pt x="6350" y="8539"/>
                  </a:moveTo>
                  <a:lnTo>
                    <a:pt x="6350" y="4270"/>
                  </a:lnTo>
                  <a:lnTo>
                    <a:pt x="12700" y="4270"/>
                  </a:lnTo>
                  <a:lnTo>
                    <a:pt x="12700" y="4738446"/>
                  </a:lnTo>
                  <a:lnTo>
                    <a:pt x="6350" y="4738446"/>
                  </a:lnTo>
                  <a:lnTo>
                    <a:pt x="6350" y="4734176"/>
                  </a:lnTo>
                  <a:lnTo>
                    <a:pt x="10613390" y="4734176"/>
                  </a:lnTo>
                  <a:lnTo>
                    <a:pt x="10613390" y="4738446"/>
                  </a:lnTo>
                  <a:lnTo>
                    <a:pt x="10607040" y="4738446"/>
                  </a:lnTo>
                  <a:lnTo>
                    <a:pt x="10607040" y="4270"/>
                  </a:lnTo>
                  <a:lnTo>
                    <a:pt x="10613390" y="4270"/>
                  </a:lnTo>
                  <a:lnTo>
                    <a:pt x="10613390" y="8539"/>
                  </a:lnTo>
                  <a:lnTo>
                    <a:pt x="6350" y="8539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4743" y="4898255"/>
            <a:ext cx="5844607" cy="538225"/>
            <a:chOff x="0" y="0"/>
            <a:chExt cx="10058400" cy="92627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058400" cy="926270"/>
            </a:xfrm>
            <a:custGeom>
              <a:avLst/>
              <a:gdLst/>
              <a:ahLst/>
              <a:cxnLst/>
              <a:rect l="l" t="t" r="r" b="b"/>
              <a:pathLst>
                <a:path w="10058400" h="926270">
                  <a:moveTo>
                    <a:pt x="0" y="0"/>
                  </a:moveTo>
                  <a:lnTo>
                    <a:pt x="10058400" y="0"/>
                  </a:lnTo>
                  <a:lnTo>
                    <a:pt x="10058400" y="926270"/>
                  </a:lnTo>
                  <a:lnTo>
                    <a:pt x="0" y="926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5" b="-14910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0058400" cy="983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Real-World Applications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39115" y="5527537"/>
            <a:ext cx="7969568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Healthcare – Automated clinical report generation</a:t>
            </a:r>
          </a:p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Hospitals – Faster patient documentation</a:t>
            </a:r>
          </a:p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Telemedicine – Remote symptom analysis</a:t>
            </a:r>
          </a:p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 Assistants – Supporting doctors in decision-making</a:t>
            </a:r>
          </a:p>
          <a:p>
            <a:pPr algn="l">
              <a:lnSpc>
                <a:spcPts val="2783"/>
              </a:lnSpc>
            </a:pPr>
            <a:endParaRPr lang="en-US" sz="2319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9459278" y="4798695"/>
            <a:ext cx="7964805" cy="2669941"/>
            <a:chOff x="0" y="0"/>
            <a:chExt cx="10619740" cy="3559922"/>
          </a:xfrm>
        </p:grpSpPr>
        <p:sp>
          <p:nvSpPr>
            <p:cNvPr id="58" name="Freeform 58"/>
            <p:cNvSpPr/>
            <p:nvPr/>
          </p:nvSpPr>
          <p:spPr>
            <a:xfrm>
              <a:off x="6350" y="3205"/>
              <a:ext cx="10607040" cy="3553512"/>
            </a:xfrm>
            <a:custGeom>
              <a:avLst/>
              <a:gdLst/>
              <a:ahLst/>
              <a:cxnLst/>
              <a:rect l="l" t="t" r="r" b="b"/>
              <a:pathLst>
                <a:path w="10607040" h="3553512">
                  <a:moveTo>
                    <a:pt x="0" y="0"/>
                  </a:moveTo>
                  <a:lnTo>
                    <a:pt x="10607040" y="0"/>
                  </a:lnTo>
                  <a:lnTo>
                    <a:pt x="10607040" y="3553512"/>
                  </a:lnTo>
                  <a:lnTo>
                    <a:pt x="0" y="3553512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0" y="0"/>
              <a:ext cx="10619740" cy="3559922"/>
            </a:xfrm>
            <a:custGeom>
              <a:avLst/>
              <a:gdLst/>
              <a:ahLst/>
              <a:cxnLst/>
              <a:rect l="l" t="t" r="r" b="b"/>
              <a:pathLst>
                <a:path w="10619740" h="3559922">
                  <a:moveTo>
                    <a:pt x="6350" y="0"/>
                  </a:moveTo>
                  <a:lnTo>
                    <a:pt x="10613390" y="0"/>
                  </a:lnTo>
                  <a:cubicBezTo>
                    <a:pt x="10616947" y="0"/>
                    <a:pt x="10619740" y="1410"/>
                    <a:pt x="10619740" y="3205"/>
                  </a:cubicBezTo>
                  <a:lnTo>
                    <a:pt x="10619740" y="3556717"/>
                  </a:lnTo>
                  <a:cubicBezTo>
                    <a:pt x="10619740" y="3558512"/>
                    <a:pt x="10616947" y="3559922"/>
                    <a:pt x="10613390" y="3559922"/>
                  </a:cubicBezTo>
                  <a:lnTo>
                    <a:pt x="6350" y="3559922"/>
                  </a:lnTo>
                  <a:cubicBezTo>
                    <a:pt x="2794" y="3559922"/>
                    <a:pt x="0" y="3558512"/>
                    <a:pt x="0" y="3556717"/>
                  </a:cubicBezTo>
                  <a:lnTo>
                    <a:pt x="0" y="3205"/>
                  </a:lnTo>
                  <a:cubicBezTo>
                    <a:pt x="0" y="1410"/>
                    <a:pt x="2794" y="0"/>
                    <a:pt x="6350" y="0"/>
                  </a:cubicBezTo>
                  <a:moveTo>
                    <a:pt x="6350" y="6410"/>
                  </a:moveTo>
                  <a:lnTo>
                    <a:pt x="6350" y="3205"/>
                  </a:lnTo>
                  <a:lnTo>
                    <a:pt x="12700" y="3205"/>
                  </a:lnTo>
                  <a:lnTo>
                    <a:pt x="12700" y="3556717"/>
                  </a:lnTo>
                  <a:lnTo>
                    <a:pt x="6350" y="3556717"/>
                  </a:lnTo>
                  <a:lnTo>
                    <a:pt x="6350" y="3553512"/>
                  </a:lnTo>
                  <a:lnTo>
                    <a:pt x="10613390" y="3553512"/>
                  </a:lnTo>
                  <a:lnTo>
                    <a:pt x="10613390" y="3556717"/>
                  </a:lnTo>
                  <a:lnTo>
                    <a:pt x="10607040" y="3556717"/>
                  </a:lnTo>
                  <a:lnTo>
                    <a:pt x="10607040" y="3205"/>
                  </a:lnTo>
                  <a:lnTo>
                    <a:pt x="10613390" y="3205"/>
                  </a:lnTo>
                  <a:lnTo>
                    <a:pt x="10613390" y="6410"/>
                  </a:lnTo>
                  <a:lnTo>
                    <a:pt x="6350" y="641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738360" y="4912034"/>
            <a:ext cx="7543800" cy="524446"/>
            <a:chOff x="0" y="0"/>
            <a:chExt cx="10058400" cy="69926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058400" cy="699261"/>
            </a:xfrm>
            <a:custGeom>
              <a:avLst/>
              <a:gdLst/>
              <a:ahLst/>
              <a:cxnLst/>
              <a:rect l="l" t="t" r="r" b="b"/>
              <a:pathLst>
                <a:path w="10058400" h="699261">
                  <a:moveTo>
                    <a:pt x="0" y="0"/>
                  </a:moveTo>
                  <a:lnTo>
                    <a:pt x="10058400" y="0"/>
                  </a:lnTo>
                  <a:lnTo>
                    <a:pt x="10058400" y="699261"/>
                  </a:lnTo>
                  <a:lnTo>
                    <a:pt x="0" y="699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587" b="-22997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57150"/>
              <a:ext cx="10058400" cy="7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of Solving This Problem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9738360" y="5522205"/>
            <a:ext cx="7520940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Societal impact – Faster and better healthcare services</a:t>
            </a:r>
          </a:p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Economic impact – Reduces time and operational cost</a:t>
            </a:r>
          </a:p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Practical impact – Easy-to-use system for real-world use</a:t>
            </a:r>
          </a:p>
          <a:p>
            <a:pPr marL="419567" lvl="1" indent="-20978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Technical impact – Demonstrates AI in real applications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BA586BA-F6BF-32A4-4CEA-A608A26BF162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FF1CE3A-13A8-2F60-B3B7-EC9BA98C2EBB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3357B105-3B91-E2B0-1B81-AAD829445C9F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49424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Proposed Methodology — Overview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275" y="2253615"/>
            <a:ext cx="2899410" cy="2076450"/>
            <a:chOff x="0" y="0"/>
            <a:chExt cx="3865880" cy="2768600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146304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3693795" y="0"/>
                  </a:lnTo>
                  <a:cubicBezTo>
                    <a:pt x="3774821" y="0"/>
                    <a:pt x="3840480" y="65532"/>
                    <a:pt x="3840480" y="146304"/>
                  </a:cubicBezTo>
                  <a:lnTo>
                    <a:pt x="3840480" y="2596896"/>
                  </a:lnTo>
                  <a:cubicBezTo>
                    <a:pt x="3840480" y="2677668"/>
                    <a:pt x="3774821" y="2743200"/>
                    <a:pt x="3693795" y="2743200"/>
                  </a:cubicBezTo>
                  <a:lnTo>
                    <a:pt x="146685" y="2743200"/>
                  </a:lnTo>
                  <a:cubicBezTo>
                    <a:pt x="65659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865880" cy="2768600"/>
            </a:xfrm>
            <a:custGeom>
              <a:avLst/>
              <a:gdLst/>
              <a:ahLst/>
              <a:cxnLst/>
              <a:rect l="l" t="t" r="r" b="b"/>
              <a:pathLst>
                <a:path w="3865880" h="2768600">
                  <a:moveTo>
                    <a:pt x="0" y="159004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3706495" y="0"/>
                  </a:lnTo>
                  <a:lnTo>
                    <a:pt x="3706495" y="12700"/>
                  </a:lnTo>
                  <a:lnTo>
                    <a:pt x="3706495" y="0"/>
                  </a:lnTo>
                  <a:cubicBezTo>
                    <a:pt x="3794506" y="0"/>
                    <a:pt x="3865880" y="71120"/>
                    <a:pt x="3865880" y="159004"/>
                  </a:cubicBezTo>
                  <a:lnTo>
                    <a:pt x="3853180" y="159004"/>
                  </a:lnTo>
                  <a:lnTo>
                    <a:pt x="3865880" y="159004"/>
                  </a:lnTo>
                  <a:lnTo>
                    <a:pt x="3865880" y="2609596"/>
                  </a:lnTo>
                  <a:lnTo>
                    <a:pt x="3853180" y="2609596"/>
                  </a:lnTo>
                  <a:lnTo>
                    <a:pt x="3865880" y="2609596"/>
                  </a:lnTo>
                  <a:cubicBezTo>
                    <a:pt x="3865880" y="2697480"/>
                    <a:pt x="3794506" y="2768600"/>
                    <a:pt x="3706495" y="2768600"/>
                  </a:cubicBezTo>
                  <a:lnTo>
                    <a:pt x="3706495" y="2755900"/>
                  </a:lnTo>
                  <a:lnTo>
                    <a:pt x="3706495" y="2768600"/>
                  </a:lnTo>
                  <a:lnTo>
                    <a:pt x="159385" y="2768600"/>
                  </a:lnTo>
                  <a:lnTo>
                    <a:pt x="159385" y="2755900"/>
                  </a:lnTo>
                  <a:lnTo>
                    <a:pt x="159385" y="2768600"/>
                  </a:lnTo>
                  <a:cubicBezTo>
                    <a:pt x="71374" y="2768600"/>
                    <a:pt x="0" y="2697480"/>
                    <a:pt x="0" y="26095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609596"/>
                  </a:lnTo>
                  <a:lnTo>
                    <a:pt x="12700" y="2609596"/>
                  </a:lnTo>
                  <a:lnTo>
                    <a:pt x="25400" y="2609596"/>
                  </a:lnTo>
                  <a:cubicBezTo>
                    <a:pt x="25400" y="2683383"/>
                    <a:pt x="85344" y="2743200"/>
                    <a:pt x="159385" y="2743200"/>
                  </a:cubicBezTo>
                  <a:lnTo>
                    <a:pt x="3706495" y="2743200"/>
                  </a:lnTo>
                  <a:cubicBezTo>
                    <a:pt x="3780536" y="2743200"/>
                    <a:pt x="3840480" y="2683383"/>
                    <a:pt x="3840480" y="2609596"/>
                  </a:cubicBezTo>
                  <a:lnTo>
                    <a:pt x="3840480" y="159004"/>
                  </a:lnTo>
                  <a:cubicBezTo>
                    <a:pt x="3840480" y="85217"/>
                    <a:pt x="3780536" y="25400"/>
                    <a:pt x="3706495" y="25400"/>
                  </a:cubicBezTo>
                  <a:lnTo>
                    <a:pt x="159385" y="25400"/>
                  </a:lnTo>
                  <a:lnTo>
                    <a:pt x="159385" y="12700"/>
                  </a:lnTo>
                  <a:lnTo>
                    <a:pt x="159385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263140"/>
            <a:ext cx="2880360" cy="2057400"/>
            <a:chOff x="0" y="0"/>
            <a:chExt cx="3840480" cy="2743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0"/>
                  </a:moveTo>
                  <a:lnTo>
                    <a:pt x="3840480" y="0"/>
                  </a:lnTo>
                  <a:lnTo>
                    <a:pt x="38404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3840480" cy="2809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4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User Input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66160" y="2743200"/>
            <a:ext cx="480060" cy="1097280"/>
            <a:chOff x="0" y="0"/>
            <a:chExt cx="64008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0080" cy="1463040"/>
            </a:xfrm>
            <a:custGeom>
              <a:avLst/>
              <a:gdLst/>
              <a:ahLst/>
              <a:cxnLst/>
              <a:rect l="l" t="t" r="r" b="b"/>
              <a:pathLst>
                <a:path w="640080" h="1463040">
                  <a:moveTo>
                    <a:pt x="0" y="0"/>
                  </a:moveTo>
                  <a:lnTo>
                    <a:pt x="640080" y="0"/>
                  </a:lnTo>
                  <a:lnTo>
                    <a:pt x="64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r="-2432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64008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275" y="4516755"/>
            <a:ext cx="2899410" cy="101346"/>
            <a:chOff x="0" y="0"/>
            <a:chExt cx="3865880" cy="135128"/>
          </a:xfrm>
        </p:grpSpPr>
        <p:sp>
          <p:nvSpPr>
            <p:cNvPr id="24" name="Freeform 24"/>
            <p:cNvSpPr/>
            <p:nvPr/>
          </p:nvSpPr>
          <p:spPr>
            <a:xfrm>
              <a:off x="12700" y="12700"/>
              <a:ext cx="3840480" cy="109728"/>
            </a:xfrm>
            <a:custGeom>
              <a:avLst/>
              <a:gdLst/>
              <a:ahLst/>
              <a:cxnLst/>
              <a:rect l="l" t="t" r="r" b="b"/>
              <a:pathLst>
                <a:path w="3840480" h="109728">
                  <a:moveTo>
                    <a:pt x="0" y="0"/>
                  </a:moveTo>
                  <a:lnTo>
                    <a:pt x="3840480" y="0"/>
                  </a:lnTo>
                  <a:lnTo>
                    <a:pt x="384048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3865880" cy="135128"/>
            </a:xfrm>
            <a:custGeom>
              <a:avLst/>
              <a:gdLst/>
              <a:ahLst/>
              <a:cxnLst/>
              <a:rect l="l" t="t" r="r" b="b"/>
              <a:pathLst>
                <a:path w="3865880" h="135128">
                  <a:moveTo>
                    <a:pt x="12700" y="0"/>
                  </a:moveTo>
                  <a:lnTo>
                    <a:pt x="3853180" y="0"/>
                  </a:lnTo>
                  <a:cubicBezTo>
                    <a:pt x="3860165" y="0"/>
                    <a:pt x="3865880" y="5715"/>
                    <a:pt x="3865880" y="12700"/>
                  </a:cubicBezTo>
                  <a:lnTo>
                    <a:pt x="3865880" y="122428"/>
                  </a:lnTo>
                  <a:cubicBezTo>
                    <a:pt x="3865880" y="129413"/>
                    <a:pt x="3860165" y="135128"/>
                    <a:pt x="385318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3853180" y="109728"/>
                  </a:lnTo>
                  <a:lnTo>
                    <a:pt x="3853180" y="122428"/>
                  </a:lnTo>
                  <a:lnTo>
                    <a:pt x="3840480" y="122428"/>
                  </a:lnTo>
                  <a:lnTo>
                    <a:pt x="3840480" y="12700"/>
                  </a:lnTo>
                  <a:lnTo>
                    <a:pt x="3853180" y="12700"/>
                  </a:lnTo>
                  <a:lnTo>
                    <a:pt x="3853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4663440"/>
            <a:ext cx="2880360" cy="548640"/>
            <a:chOff x="0" y="0"/>
            <a:chExt cx="384048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840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8890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36695" y="2253615"/>
            <a:ext cx="2899410" cy="2076450"/>
            <a:chOff x="0" y="0"/>
            <a:chExt cx="3865880" cy="2768600"/>
          </a:xfrm>
        </p:grpSpPr>
        <p:sp>
          <p:nvSpPr>
            <p:cNvPr id="30" name="Freeform 30"/>
            <p:cNvSpPr/>
            <p:nvPr/>
          </p:nvSpPr>
          <p:spPr>
            <a:xfrm>
              <a:off x="12700" y="1270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146304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3693795" y="0"/>
                  </a:lnTo>
                  <a:cubicBezTo>
                    <a:pt x="3774821" y="0"/>
                    <a:pt x="3840480" y="65532"/>
                    <a:pt x="3840480" y="146304"/>
                  </a:cubicBezTo>
                  <a:lnTo>
                    <a:pt x="3840480" y="2596896"/>
                  </a:lnTo>
                  <a:cubicBezTo>
                    <a:pt x="3840480" y="2677668"/>
                    <a:pt x="3774821" y="2743200"/>
                    <a:pt x="3693795" y="2743200"/>
                  </a:cubicBezTo>
                  <a:lnTo>
                    <a:pt x="146685" y="2743200"/>
                  </a:lnTo>
                  <a:cubicBezTo>
                    <a:pt x="65659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3865880" cy="2768600"/>
            </a:xfrm>
            <a:custGeom>
              <a:avLst/>
              <a:gdLst/>
              <a:ahLst/>
              <a:cxnLst/>
              <a:rect l="l" t="t" r="r" b="b"/>
              <a:pathLst>
                <a:path w="3865880" h="2768600">
                  <a:moveTo>
                    <a:pt x="0" y="159004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3706495" y="0"/>
                  </a:lnTo>
                  <a:lnTo>
                    <a:pt x="3706495" y="12700"/>
                  </a:lnTo>
                  <a:lnTo>
                    <a:pt x="3706495" y="0"/>
                  </a:lnTo>
                  <a:cubicBezTo>
                    <a:pt x="3794506" y="0"/>
                    <a:pt x="3865880" y="71120"/>
                    <a:pt x="3865880" y="159004"/>
                  </a:cubicBezTo>
                  <a:lnTo>
                    <a:pt x="3853180" y="159004"/>
                  </a:lnTo>
                  <a:lnTo>
                    <a:pt x="3865880" y="159004"/>
                  </a:lnTo>
                  <a:lnTo>
                    <a:pt x="3865880" y="2609596"/>
                  </a:lnTo>
                  <a:lnTo>
                    <a:pt x="3853180" y="2609596"/>
                  </a:lnTo>
                  <a:lnTo>
                    <a:pt x="3865880" y="2609596"/>
                  </a:lnTo>
                  <a:cubicBezTo>
                    <a:pt x="3865880" y="2697480"/>
                    <a:pt x="3794506" y="2768600"/>
                    <a:pt x="3706495" y="2768600"/>
                  </a:cubicBezTo>
                  <a:lnTo>
                    <a:pt x="3706495" y="2755900"/>
                  </a:lnTo>
                  <a:lnTo>
                    <a:pt x="3706495" y="2768600"/>
                  </a:lnTo>
                  <a:lnTo>
                    <a:pt x="159385" y="2768600"/>
                  </a:lnTo>
                  <a:lnTo>
                    <a:pt x="159385" y="2755900"/>
                  </a:lnTo>
                  <a:lnTo>
                    <a:pt x="159385" y="2768600"/>
                  </a:lnTo>
                  <a:cubicBezTo>
                    <a:pt x="71374" y="2768600"/>
                    <a:pt x="0" y="2697480"/>
                    <a:pt x="0" y="26095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609596"/>
                  </a:lnTo>
                  <a:lnTo>
                    <a:pt x="12700" y="2609596"/>
                  </a:lnTo>
                  <a:lnTo>
                    <a:pt x="25400" y="2609596"/>
                  </a:lnTo>
                  <a:cubicBezTo>
                    <a:pt x="25400" y="2683383"/>
                    <a:pt x="85344" y="2743200"/>
                    <a:pt x="159385" y="2743200"/>
                  </a:cubicBezTo>
                  <a:lnTo>
                    <a:pt x="3706495" y="2743200"/>
                  </a:lnTo>
                  <a:cubicBezTo>
                    <a:pt x="3780536" y="2743200"/>
                    <a:pt x="3840480" y="2683383"/>
                    <a:pt x="3840480" y="2609596"/>
                  </a:cubicBezTo>
                  <a:lnTo>
                    <a:pt x="3840480" y="159004"/>
                  </a:lnTo>
                  <a:cubicBezTo>
                    <a:pt x="3840480" y="85217"/>
                    <a:pt x="3780536" y="25400"/>
                    <a:pt x="3706495" y="25400"/>
                  </a:cubicBezTo>
                  <a:lnTo>
                    <a:pt x="159385" y="25400"/>
                  </a:lnTo>
                  <a:lnTo>
                    <a:pt x="159385" y="12700"/>
                  </a:lnTo>
                  <a:lnTo>
                    <a:pt x="159385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39352" y="2263140"/>
            <a:ext cx="2030028" cy="2057400"/>
            <a:chOff x="0" y="0"/>
            <a:chExt cx="2706704" cy="2743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6704" cy="2743200"/>
            </a:xfrm>
            <a:custGeom>
              <a:avLst/>
              <a:gdLst/>
              <a:ahLst/>
              <a:cxnLst/>
              <a:rect l="l" t="t" r="r" b="b"/>
              <a:pathLst>
                <a:path w="2706704" h="2743200">
                  <a:moveTo>
                    <a:pt x="0" y="0"/>
                  </a:moveTo>
                  <a:lnTo>
                    <a:pt x="2706704" y="0"/>
                  </a:lnTo>
                  <a:lnTo>
                    <a:pt x="2706704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89" r="-10097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2706704" cy="2809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Input Processing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26580" y="2743200"/>
            <a:ext cx="480060" cy="1097280"/>
            <a:chOff x="0" y="0"/>
            <a:chExt cx="64008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0080" cy="1463040"/>
            </a:xfrm>
            <a:custGeom>
              <a:avLst/>
              <a:gdLst/>
              <a:ahLst/>
              <a:cxnLst/>
              <a:rect l="l" t="t" r="r" b="b"/>
              <a:pathLst>
                <a:path w="640080" h="1463040">
                  <a:moveTo>
                    <a:pt x="0" y="0"/>
                  </a:moveTo>
                  <a:lnTo>
                    <a:pt x="640080" y="0"/>
                  </a:lnTo>
                  <a:lnTo>
                    <a:pt x="64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r="-2432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64008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036695" y="4516755"/>
            <a:ext cx="2899410" cy="101346"/>
            <a:chOff x="0" y="0"/>
            <a:chExt cx="3865880" cy="135128"/>
          </a:xfrm>
        </p:grpSpPr>
        <p:sp>
          <p:nvSpPr>
            <p:cNvPr id="39" name="Freeform 39"/>
            <p:cNvSpPr/>
            <p:nvPr/>
          </p:nvSpPr>
          <p:spPr>
            <a:xfrm>
              <a:off x="12700" y="12700"/>
              <a:ext cx="3840480" cy="109728"/>
            </a:xfrm>
            <a:custGeom>
              <a:avLst/>
              <a:gdLst/>
              <a:ahLst/>
              <a:cxnLst/>
              <a:rect l="l" t="t" r="r" b="b"/>
              <a:pathLst>
                <a:path w="3840480" h="109728">
                  <a:moveTo>
                    <a:pt x="0" y="0"/>
                  </a:moveTo>
                  <a:lnTo>
                    <a:pt x="3840480" y="0"/>
                  </a:lnTo>
                  <a:lnTo>
                    <a:pt x="384048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3865880" cy="135128"/>
            </a:xfrm>
            <a:custGeom>
              <a:avLst/>
              <a:gdLst/>
              <a:ahLst/>
              <a:cxnLst/>
              <a:rect l="l" t="t" r="r" b="b"/>
              <a:pathLst>
                <a:path w="3865880" h="135128">
                  <a:moveTo>
                    <a:pt x="12700" y="0"/>
                  </a:moveTo>
                  <a:lnTo>
                    <a:pt x="3853180" y="0"/>
                  </a:lnTo>
                  <a:cubicBezTo>
                    <a:pt x="3860165" y="0"/>
                    <a:pt x="3865880" y="5715"/>
                    <a:pt x="3865880" y="12700"/>
                  </a:cubicBezTo>
                  <a:lnTo>
                    <a:pt x="3865880" y="122428"/>
                  </a:lnTo>
                  <a:cubicBezTo>
                    <a:pt x="3865880" y="129413"/>
                    <a:pt x="3860165" y="135128"/>
                    <a:pt x="385318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3853180" y="109728"/>
                  </a:lnTo>
                  <a:lnTo>
                    <a:pt x="3853180" y="122428"/>
                  </a:lnTo>
                  <a:lnTo>
                    <a:pt x="3840480" y="122428"/>
                  </a:lnTo>
                  <a:lnTo>
                    <a:pt x="3840480" y="12700"/>
                  </a:lnTo>
                  <a:lnTo>
                    <a:pt x="3853180" y="12700"/>
                  </a:lnTo>
                  <a:lnTo>
                    <a:pt x="3853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046220" y="4663440"/>
            <a:ext cx="2880360" cy="548640"/>
            <a:chOff x="0" y="0"/>
            <a:chExt cx="384048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840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8890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97115" y="2253615"/>
            <a:ext cx="2899410" cy="2076450"/>
            <a:chOff x="0" y="0"/>
            <a:chExt cx="3865880" cy="2768600"/>
          </a:xfrm>
        </p:grpSpPr>
        <p:sp>
          <p:nvSpPr>
            <p:cNvPr id="45" name="Freeform 45"/>
            <p:cNvSpPr/>
            <p:nvPr/>
          </p:nvSpPr>
          <p:spPr>
            <a:xfrm>
              <a:off x="12700" y="1270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146304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3693795" y="0"/>
                  </a:lnTo>
                  <a:cubicBezTo>
                    <a:pt x="3774821" y="0"/>
                    <a:pt x="3840480" y="65532"/>
                    <a:pt x="3840480" y="146304"/>
                  </a:cubicBezTo>
                  <a:lnTo>
                    <a:pt x="3840480" y="2596896"/>
                  </a:lnTo>
                  <a:cubicBezTo>
                    <a:pt x="3840480" y="2677668"/>
                    <a:pt x="3774821" y="2743200"/>
                    <a:pt x="3693795" y="2743200"/>
                  </a:cubicBezTo>
                  <a:lnTo>
                    <a:pt x="146685" y="2743200"/>
                  </a:lnTo>
                  <a:cubicBezTo>
                    <a:pt x="65659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3865880" cy="2768600"/>
            </a:xfrm>
            <a:custGeom>
              <a:avLst/>
              <a:gdLst/>
              <a:ahLst/>
              <a:cxnLst/>
              <a:rect l="l" t="t" r="r" b="b"/>
              <a:pathLst>
                <a:path w="3865880" h="2768600">
                  <a:moveTo>
                    <a:pt x="0" y="159004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3706495" y="0"/>
                  </a:lnTo>
                  <a:lnTo>
                    <a:pt x="3706495" y="12700"/>
                  </a:lnTo>
                  <a:lnTo>
                    <a:pt x="3706495" y="0"/>
                  </a:lnTo>
                  <a:cubicBezTo>
                    <a:pt x="3794506" y="0"/>
                    <a:pt x="3865880" y="71120"/>
                    <a:pt x="3865880" y="159004"/>
                  </a:cubicBezTo>
                  <a:lnTo>
                    <a:pt x="3853180" y="159004"/>
                  </a:lnTo>
                  <a:lnTo>
                    <a:pt x="3865880" y="159004"/>
                  </a:lnTo>
                  <a:lnTo>
                    <a:pt x="3865880" y="2609596"/>
                  </a:lnTo>
                  <a:lnTo>
                    <a:pt x="3853180" y="2609596"/>
                  </a:lnTo>
                  <a:lnTo>
                    <a:pt x="3865880" y="2609596"/>
                  </a:lnTo>
                  <a:cubicBezTo>
                    <a:pt x="3865880" y="2697480"/>
                    <a:pt x="3794506" y="2768600"/>
                    <a:pt x="3706495" y="2768600"/>
                  </a:cubicBezTo>
                  <a:lnTo>
                    <a:pt x="3706495" y="2755900"/>
                  </a:lnTo>
                  <a:lnTo>
                    <a:pt x="3706495" y="2768600"/>
                  </a:lnTo>
                  <a:lnTo>
                    <a:pt x="159385" y="2768600"/>
                  </a:lnTo>
                  <a:lnTo>
                    <a:pt x="159385" y="2755900"/>
                  </a:lnTo>
                  <a:lnTo>
                    <a:pt x="159385" y="2768600"/>
                  </a:lnTo>
                  <a:cubicBezTo>
                    <a:pt x="71374" y="2768600"/>
                    <a:pt x="0" y="2697480"/>
                    <a:pt x="0" y="26095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609596"/>
                  </a:lnTo>
                  <a:lnTo>
                    <a:pt x="12700" y="2609596"/>
                  </a:lnTo>
                  <a:lnTo>
                    <a:pt x="25400" y="2609596"/>
                  </a:lnTo>
                  <a:cubicBezTo>
                    <a:pt x="25400" y="2683383"/>
                    <a:pt x="85344" y="2743200"/>
                    <a:pt x="159385" y="2743200"/>
                  </a:cubicBezTo>
                  <a:lnTo>
                    <a:pt x="3706495" y="2743200"/>
                  </a:lnTo>
                  <a:cubicBezTo>
                    <a:pt x="3780536" y="2743200"/>
                    <a:pt x="3840480" y="2683383"/>
                    <a:pt x="3840480" y="2609596"/>
                  </a:cubicBezTo>
                  <a:lnTo>
                    <a:pt x="3840480" y="159004"/>
                  </a:lnTo>
                  <a:cubicBezTo>
                    <a:pt x="3840480" y="85217"/>
                    <a:pt x="3780536" y="25400"/>
                    <a:pt x="3706495" y="25400"/>
                  </a:cubicBezTo>
                  <a:lnTo>
                    <a:pt x="159385" y="25400"/>
                  </a:lnTo>
                  <a:lnTo>
                    <a:pt x="159385" y="12700"/>
                  </a:lnTo>
                  <a:lnTo>
                    <a:pt x="159385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406640" y="2263140"/>
            <a:ext cx="2880360" cy="2057400"/>
            <a:chOff x="0" y="0"/>
            <a:chExt cx="3840480" cy="2743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0"/>
                  </a:moveTo>
                  <a:lnTo>
                    <a:pt x="3840480" y="0"/>
                  </a:lnTo>
                  <a:lnTo>
                    <a:pt x="38404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3840480" cy="2809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Prompt Construction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287000" y="2743200"/>
            <a:ext cx="480060" cy="1097280"/>
            <a:chOff x="0" y="0"/>
            <a:chExt cx="640080" cy="14630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40080" cy="1463040"/>
            </a:xfrm>
            <a:custGeom>
              <a:avLst/>
              <a:gdLst/>
              <a:ahLst/>
              <a:cxnLst/>
              <a:rect l="l" t="t" r="r" b="b"/>
              <a:pathLst>
                <a:path w="640080" h="1463040">
                  <a:moveTo>
                    <a:pt x="0" y="0"/>
                  </a:moveTo>
                  <a:lnTo>
                    <a:pt x="640080" y="0"/>
                  </a:lnTo>
                  <a:lnTo>
                    <a:pt x="64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r="-2432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64008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397115" y="4516755"/>
            <a:ext cx="2899410" cy="101346"/>
            <a:chOff x="0" y="0"/>
            <a:chExt cx="3865880" cy="135128"/>
          </a:xfrm>
        </p:grpSpPr>
        <p:sp>
          <p:nvSpPr>
            <p:cNvPr id="54" name="Freeform 54"/>
            <p:cNvSpPr/>
            <p:nvPr/>
          </p:nvSpPr>
          <p:spPr>
            <a:xfrm>
              <a:off x="12700" y="12700"/>
              <a:ext cx="3840480" cy="109728"/>
            </a:xfrm>
            <a:custGeom>
              <a:avLst/>
              <a:gdLst/>
              <a:ahLst/>
              <a:cxnLst/>
              <a:rect l="l" t="t" r="r" b="b"/>
              <a:pathLst>
                <a:path w="3840480" h="109728">
                  <a:moveTo>
                    <a:pt x="0" y="0"/>
                  </a:moveTo>
                  <a:lnTo>
                    <a:pt x="3840480" y="0"/>
                  </a:lnTo>
                  <a:lnTo>
                    <a:pt x="384048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3865880" cy="135128"/>
            </a:xfrm>
            <a:custGeom>
              <a:avLst/>
              <a:gdLst/>
              <a:ahLst/>
              <a:cxnLst/>
              <a:rect l="l" t="t" r="r" b="b"/>
              <a:pathLst>
                <a:path w="3865880" h="135128">
                  <a:moveTo>
                    <a:pt x="12700" y="0"/>
                  </a:moveTo>
                  <a:lnTo>
                    <a:pt x="3853180" y="0"/>
                  </a:lnTo>
                  <a:cubicBezTo>
                    <a:pt x="3860165" y="0"/>
                    <a:pt x="3865880" y="5715"/>
                    <a:pt x="3865880" y="12700"/>
                  </a:cubicBezTo>
                  <a:lnTo>
                    <a:pt x="3865880" y="122428"/>
                  </a:lnTo>
                  <a:cubicBezTo>
                    <a:pt x="3865880" y="129413"/>
                    <a:pt x="3860165" y="135128"/>
                    <a:pt x="385318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3853180" y="109728"/>
                  </a:lnTo>
                  <a:lnTo>
                    <a:pt x="3853180" y="122428"/>
                  </a:lnTo>
                  <a:lnTo>
                    <a:pt x="3840480" y="122428"/>
                  </a:lnTo>
                  <a:lnTo>
                    <a:pt x="3840480" y="12700"/>
                  </a:lnTo>
                  <a:lnTo>
                    <a:pt x="3853180" y="12700"/>
                  </a:lnTo>
                  <a:lnTo>
                    <a:pt x="3853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06640" y="4663440"/>
            <a:ext cx="2880360" cy="548640"/>
            <a:chOff x="0" y="0"/>
            <a:chExt cx="384048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3840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8890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757535" y="2253615"/>
            <a:ext cx="2899410" cy="2076450"/>
            <a:chOff x="0" y="0"/>
            <a:chExt cx="3865880" cy="2768600"/>
          </a:xfrm>
        </p:grpSpPr>
        <p:sp>
          <p:nvSpPr>
            <p:cNvPr id="60" name="Freeform 60"/>
            <p:cNvSpPr/>
            <p:nvPr/>
          </p:nvSpPr>
          <p:spPr>
            <a:xfrm>
              <a:off x="12700" y="1270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146304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3693795" y="0"/>
                  </a:lnTo>
                  <a:cubicBezTo>
                    <a:pt x="3774821" y="0"/>
                    <a:pt x="3840480" y="65532"/>
                    <a:pt x="3840480" y="146304"/>
                  </a:cubicBezTo>
                  <a:lnTo>
                    <a:pt x="3840480" y="2596896"/>
                  </a:lnTo>
                  <a:cubicBezTo>
                    <a:pt x="3840480" y="2677668"/>
                    <a:pt x="3774821" y="2743200"/>
                    <a:pt x="3693795" y="2743200"/>
                  </a:cubicBezTo>
                  <a:lnTo>
                    <a:pt x="146685" y="2743200"/>
                  </a:lnTo>
                  <a:cubicBezTo>
                    <a:pt x="65659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3865880" cy="2768600"/>
            </a:xfrm>
            <a:custGeom>
              <a:avLst/>
              <a:gdLst/>
              <a:ahLst/>
              <a:cxnLst/>
              <a:rect l="l" t="t" r="r" b="b"/>
              <a:pathLst>
                <a:path w="3865880" h="2768600">
                  <a:moveTo>
                    <a:pt x="0" y="159004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3706495" y="0"/>
                  </a:lnTo>
                  <a:lnTo>
                    <a:pt x="3706495" y="12700"/>
                  </a:lnTo>
                  <a:lnTo>
                    <a:pt x="3706495" y="0"/>
                  </a:lnTo>
                  <a:cubicBezTo>
                    <a:pt x="3794506" y="0"/>
                    <a:pt x="3865880" y="71120"/>
                    <a:pt x="3865880" y="159004"/>
                  </a:cubicBezTo>
                  <a:lnTo>
                    <a:pt x="3853180" y="159004"/>
                  </a:lnTo>
                  <a:lnTo>
                    <a:pt x="3865880" y="159004"/>
                  </a:lnTo>
                  <a:lnTo>
                    <a:pt x="3865880" y="2609596"/>
                  </a:lnTo>
                  <a:lnTo>
                    <a:pt x="3853180" y="2609596"/>
                  </a:lnTo>
                  <a:lnTo>
                    <a:pt x="3865880" y="2609596"/>
                  </a:lnTo>
                  <a:cubicBezTo>
                    <a:pt x="3865880" y="2697480"/>
                    <a:pt x="3794506" y="2768600"/>
                    <a:pt x="3706495" y="2768600"/>
                  </a:cubicBezTo>
                  <a:lnTo>
                    <a:pt x="3706495" y="2755900"/>
                  </a:lnTo>
                  <a:lnTo>
                    <a:pt x="3706495" y="2768600"/>
                  </a:lnTo>
                  <a:lnTo>
                    <a:pt x="159385" y="2768600"/>
                  </a:lnTo>
                  <a:lnTo>
                    <a:pt x="159385" y="2755900"/>
                  </a:lnTo>
                  <a:lnTo>
                    <a:pt x="159385" y="2768600"/>
                  </a:lnTo>
                  <a:cubicBezTo>
                    <a:pt x="71374" y="2768600"/>
                    <a:pt x="0" y="2697480"/>
                    <a:pt x="0" y="26095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609596"/>
                  </a:lnTo>
                  <a:lnTo>
                    <a:pt x="12700" y="2609596"/>
                  </a:lnTo>
                  <a:lnTo>
                    <a:pt x="25400" y="2609596"/>
                  </a:lnTo>
                  <a:cubicBezTo>
                    <a:pt x="25400" y="2683383"/>
                    <a:pt x="85344" y="2743200"/>
                    <a:pt x="159385" y="2743200"/>
                  </a:cubicBezTo>
                  <a:lnTo>
                    <a:pt x="3706495" y="2743200"/>
                  </a:lnTo>
                  <a:cubicBezTo>
                    <a:pt x="3780536" y="2743200"/>
                    <a:pt x="3840480" y="2683383"/>
                    <a:pt x="3840480" y="2609596"/>
                  </a:cubicBezTo>
                  <a:lnTo>
                    <a:pt x="3840480" y="159004"/>
                  </a:lnTo>
                  <a:cubicBezTo>
                    <a:pt x="3840480" y="85217"/>
                    <a:pt x="3780536" y="25400"/>
                    <a:pt x="3706495" y="25400"/>
                  </a:cubicBezTo>
                  <a:lnTo>
                    <a:pt x="159385" y="25400"/>
                  </a:lnTo>
                  <a:lnTo>
                    <a:pt x="159385" y="12700"/>
                  </a:lnTo>
                  <a:lnTo>
                    <a:pt x="159385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767060" y="2263140"/>
            <a:ext cx="2880360" cy="2057400"/>
            <a:chOff x="0" y="0"/>
            <a:chExt cx="3840480" cy="27432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0"/>
                  </a:moveTo>
                  <a:lnTo>
                    <a:pt x="3840480" y="0"/>
                  </a:lnTo>
                  <a:lnTo>
                    <a:pt x="38404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3840480" cy="2809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API Request (Backend)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647420" y="2743200"/>
            <a:ext cx="480060" cy="1097280"/>
            <a:chOff x="0" y="0"/>
            <a:chExt cx="640080" cy="14630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40080" cy="1463040"/>
            </a:xfrm>
            <a:custGeom>
              <a:avLst/>
              <a:gdLst/>
              <a:ahLst/>
              <a:cxnLst/>
              <a:rect l="l" t="t" r="r" b="b"/>
              <a:pathLst>
                <a:path w="640080" h="1463040">
                  <a:moveTo>
                    <a:pt x="0" y="0"/>
                  </a:moveTo>
                  <a:lnTo>
                    <a:pt x="640080" y="0"/>
                  </a:lnTo>
                  <a:lnTo>
                    <a:pt x="640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265" r="-24326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64008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E8A0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757535" y="4516755"/>
            <a:ext cx="2899410" cy="101346"/>
            <a:chOff x="0" y="0"/>
            <a:chExt cx="3865880" cy="135128"/>
          </a:xfrm>
        </p:grpSpPr>
        <p:sp>
          <p:nvSpPr>
            <p:cNvPr id="69" name="Freeform 69"/>
            <p:cNvSpPr/>
            <p:nvPr/>
          </p:nvSpPr>
          <p:spPr>
            <a:xfrm>
              <a:off x="12700" y="12700"/>
              <a:ext cx="3840480" cy="109728"/>
            </a:xfrm>
            <a:custGeom>
              <a:avLst/>
              <a:gdLst/>
              <a:ahLst/>
              <a:cxnLst/>
              <a:rect l="l" t="t" r="r" b="b"/>
              <a:pathLst>
                <a:path w="3840480" h="109728">
                  <a:moveTo>
                    <a:pt x="0" y="0"/>
                  </a:moveTo>
                  <a:lnTo>
                    <a:pt x="3840480" y="0"/>
                  </a:lnTo>
                  <a:lnTo>
                    <a:pt x="384048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3865880" cy="135128"/>
            </a:xfrm>
            <a:custGeom>
              <a:avLst/>
              <a:gdLst/>
              <a:ahLst/>
              <a:cxnLst/>
              <a:rect l="l" t="t" r="r" b="b"/>
              <a:pathLst>
                <a:path w="3865880" h="135128">
                  <a:moveTo>
                    <a:pt x="12700" y="0"/>
                  </a:moveTo>
                  <a:lnTo>
                    <a:pt x="3853180" y="0"/>
                  </a:lnTo>
                  <a:cubicBezTo>
                    <a:pt x="3860165" y="0"/>
                    <a:pt x="3865880" y="5715"/>
                    <a:pt x="3865880" y="12700"/>
                  </a:cubicBezTo>
                  <a:lnTo>
                    <a:pt x="3865880" y="122428"/>
                  </a:lnTo>
                  <a:cubicBezTo>
                    <a:pt x="3865880" y="129413"/>
                    <a:pt x="3860165" y="135128"/>
                    <a:pt x="385318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3853180" y="109728"/>
                  </a:lnTo>
                  <a:lnTo>
                    <a:pt x="3853180" y="122428"/>
                  </a:lnTo>
                  <a:lnTo>
                    <a:pt x="3840480" y="122428"/>
                  </a:lnTo>
                  <a:lnTo>
                    <a:pt x="3840480" y="12700"/>
                  </a:lnTo>
                  <a:lnTo>
                    <a:pt x="3853180" y="12700"/>
                  </a:lnTo>
                  <a:lnTo>
                    <a:pt x="3853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767060" y="4663440"/>
            <a:ext cx="2880360" cy="548640"/>
            <a:chOff x="0" y="0"/>
            <a:chExt cx="3840480" cy="731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3840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8890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4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117955" y="2253615"/>
            <a:ext cx="2899410" cy="2076450"/>
            <a:chOff x="0" y="0"/>
            <a:chExt cx="3865880" cy="2768600"/>
          </a:xfrm>
        </p:grpSpPr>
        <p:sp>
          <p:nvSpPr>
            <p:cNvPr id="75" name="Freeform 75"/>
            <p:cNvSpPr/>
            <p:nvPr/>
          </p:nvSpPr>
          <p:spPr>
            <a:xfrm>
              <a:off x="12700" y="1270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146304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3693795" y="0"/>
                  </a:lnTo>
                  <a:cubicBezTo>
                    <a:pt x="3774821" y="0"/>
                    <a:pt x="3840480" y="65532"/>
                    <a:pt x="3840480" y="146304"/>
                  </a:cubicBezTo>
                  <a:lnTo>
                    <a:pt x="3840480" y="2596896"/>
                  </a:lnTo>
                  <a:cubicBezTo>
                    <a:pt x="3840480" y="2677668"/>
                    <a:pt x="3774821" y="2743200"/>
                    <a:pt x="3693795" y="2743200"/>
                  </a:cubicBezTo>
                  <a:lnTo>
                    <a:pt x="146685" y="2743200"/>
                  </a:lnTo>
                  <a:cubicBezTo>
                    <a:pt x="65659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0" y="0"/>
              <a:ext cx="3865880" cy="2768600"/>
            </a:xfrm>
            <a:custGeom>
              <a:avLst/>
              <a:gdLst/>
              <a:ahLst/>
              <a:cxnLst/>
              <a:rect l="l" t="t" r="r" b="b"/>
              <a:pathLst>
                <a:path w="3865880" h="2768600">
                  <a:moveTo>
                    <a:pt x="0" y="159004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3706495" y="0"/>
                  </a:lnTo>
                  <a:lnTo>
                    <a:pt x="3706495" y="12700"/>
                  </a:lnTo>
                  <a:lnTo>
                    <a:pt x="3706495" y="0"/>
                  </a:lnTo>
                  <a:cubicBezTo>
                    <a:pt x="3794506" y="0"/>
                    <a:pt x="3865880" y="71120"/>
                    <a:pt x="3865880" y="159004"/>
                  </a:cubicBezTo>
                  <a:lnTo>
                    <a:pt x="3853180" y="159004"/>
                  </a:lnTo>
                  <a:lnTo>
                    <a:pt x="3865880" y="159004"/>
                  </a:lnTo>
                  <a:lnTo>
                    <a:pt x="3865880" y="2609596"/>
                  </a:lnTo>
                  <a:lnTo>
                    <a:pt x="3853180" y="2609596"/>
                  </a:lnTo>
                  <a:lnTo>
                    <a:pt x="3865880" y="2609596"/>
                  </a:lnTo>
                  <a:cubicBezTo>
                    <a:pt x="3865880" y="2697480"/>
                    <a:pt x="3794506" y="2768600"/>
                    <a:pt x="3706495" y="2768600"/>
                  </a:cubicBezTo>
                  <a:lnTo>
                    <a:pt x="3706495" y="2755900"/>
                  </a:lnTo>
                  <a:lnTo>
                    <a:pt x="3706495" y="2768600"/>
                  </a:lnTo>
                  <a:lnTo>
                    <a:pt x="159385" y="2768600"/>
                  </a:lnTo>
                  <a:lnTo>
                    <a:pt x="159385" y="2755900"/>
                  </a:lnTo>
                  <a:lnTo>
                    <a:pt x="159385" y="2768600"/>
                  </a:lnTo>
                  <a:cubicBezTo>
                    <a:pt x="71374" y="2768600"/>
                    <a:pt x="0" y="2697480"/>
                    <a:pt x="0" y="26095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609596"/>
                  </a:lnTo>
                  <a:lnTo>
                    <a:pt x="12700" y="2609596"/>
                  </a:lnTo>
                  <a:lnTo>
                    <a:pt x="25400" y="2609596"/>
                  </a:lnTo>
                  <a:cubicBezTo>
                    <a:pt x="25400" y="2683383"/>
                    <a:pt x="85344" y="2743200"/>
                    <a:pt x="159385" y="2743200"/>
                  </a:cubicBezTo>
                  <a:lnTo>
                    <a:pt x="3706495" y="2743200"/>
                  </a:lnTo>
                  <a:cubicBezTo>
                    <a:pt x="3780536" y="2743200"/>
                    <a:pt x="3840480" y="2683383"/>
                    <a:pt x="3840480" y="2609596"/>
                  </a:cubicBezTo>
                  <a:lnTo>
                    <a:pt x="3840480" y="159004"/>
                  </a:lnTo>
                  <a:cubicBezTo>
                    <a:pt x="3840480" y="85217"/>
                    <a:pt x="3780536" y="25400"/>
                    <a:pt x="3706495" y="25400"/>
                  </a:cubicBezTo>
                  <a:lnTo>
                    <a:pt x="159385" y="25400"/>
                  </a:lnTo>
                  <a:lnTo>
                    <a:pt x="159385" y="12700"/>
                  </a:lnTo>
                  <a:lnTo>
                    <a:pt x="159385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4127480" y="2263140"/>
            <a:ext cx="2880360" cy="2057400"/>
            <a:chOff x="0" y="0"/>
            <a:chExt cx="3840480" cy="2743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840480" cy="2743200"/>
            </a:xfrm>
            <a:custGeom>
              <a:avLst/>
              <a:gdLst/>
              <a:ahLst/>
              <a:cxnLst/>
              <a:rect l="l" t="t" r="r" b="b"/>
              <a:pathLst>
                <a:path w="3840480" h="2743200">
                  <a:moveTo>
                    <a:pt x="0" y="0"/>
                  </a:moveTo>
                  <a:lnTo>
                    <a:pt x="3840480" y="0"/>
                  </a:lnTo>
                  <a:lnTo>
                    <a:pt x="38404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66675"/>
              <a:ext cx="3840480" cy="2809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Report Generation (Gemini)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117955" y="4516755"/>
            <a:ext cx="2899410" cy="101346"/>
            <a:chOff x="0" y="0"/>
            <a:chExt cx="3865880" cy="135128"/>
          </a:xfrm>
        </p:grpSpPr>
        <p:sp>
          <p:nvSpPr>
            <p:cNvPr id="81" name="Freeform 81"/>
            <p:cNvSpPr/>
            <p:nvPr/>
          </p:nvSpPr>
          <p:spPr>
            <a:xfrm>
              <a:off x="12700" y="12700"/>
              <a:ext cx="3840480" cy="109728"/>
            </a:xfrm>
            <a:custGeom>
              <a:avLst/>
              <a:gdLst/>
              <a:ahLst/>
              <a:cxnLst/>
              <a:rect l="l" t="t" r="r" b="b"/>
              <a:pathLst>
                <a:path w="3840480" h="109728">
                  <a:moveTo>
                    <a:pt x="0" y="0"/>
                  </a:moveTo>
                  <a:lnTo>
                    <a:pt x="3840480" y="0"/>
                  </a:lnTo>
                  <a:lnTo>
                    <a:pt x="384048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82"/>
            <p:cNvSpPr/>
            <p:nvPr/>
          </p:nvSpPr>
          <p:spPr>
            <a:xfrm>
              <a:off x="0" y="0"/>
              <a:ext cx="3865880" cy="135128"/>
            </a:xfrm>
            <a:custGeom>
              <a:avLst/>
              <a:gdLst/>
              <a:ahLst/>
              <a:cxnLst/>
              <a:rect l="l" t="t" r="r" b="b"/>
              <a:pathLst>
                <a:path w="3865880" h="135128">
                  <a:moveTo>
                    <a:pt x="12700" y="0"/>
                  </a:moveTo>
                  <a:lnTo>
                    <a:pt x="3853180" y="0"/>
                  </a:lnTo>
                  <a:cubicBezTo>
                    <a:pt x="3860165" y="0"/>
                    <a:pt x="3865880" y="5715"/>
                    <a:pt x="3865880" y="12700"/>
                  </a:cubicBezTo>
                  <a:lnTo>
                    <a:pt x="3865880" y="122428"/>
                  </a:lnTo>
                  <a:cubicBezTo>
                    <a:pt x="3865880" y="129413"/>
                    <a:pt x="3860165" y="135128"/>
                    <a:pt x="385318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3853180" y="109728"/>
                  </a:lnTo>
                  <a:lnTo>
                    <a:pt x="3853180" y="122428"/>
                  </a:lnTo>
                  <a:lnTo>
                    <a:pt x="3840480" y="122428"/>
                  </a:lnTo>
                  <a:lnTo>
                    <a:pt x="3840480" y="12700"/>
                  </a:lnTo>
                  <a:lnTo>
                    <a:pt x="3853180" y="12700"/>
                  </a:lnTo>
                  <a:lnTo>
                    <a:pt x="3853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127480" y="4663440"/>
            <a:ext cx="2880360" cy="548640"/>
            <a:chOff x="0" y="0"/>
            <a:chExt cx="3840480" cy="73152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3840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8890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Step 5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48640" y="5143500"/>
            <a:ext cx="17017365" cy="2842633"/>
            <a:chOff x="0" y="0"/>
            <a:chExt cx="22689820" cy="3790178"/>
          </a:xfrm>
        </p:grpSpPr>
        <p:sp>
          <p:nvSpPr>
            <p:cNvPr id="87" name="Freeform 87"/>
            <p:cNvSpPr/>
            <p:nvPr/>
          </p:nvSpPr>
          <p:spPr>
            <a:xfrm>
              <a:off x="6350" y="4377"/>
              <a:ext cx="22677120" cy="3781425"/>
            </a:xfrm>
            <a:custGeom>
              <a:avLst/>
              <a:gdLst/>
              <a:ahLst/>
              <a:cxnLst/>
              <a:rect l="l" t="t" r="r" b="b"/>
              <a:pathLst>
                <a:path w="22677120" h="3781425">
                  <a:moveTo>
                    <a:pt x="0" y="0"/>
                  </a:moveTo>
                  <a:lnTo>
                    <a:pt x="22677120" y="0"/>
                  </a:lnTo>
                  <a:lnTo>
                    <a:pt x="22677120" y="3781424"/>
                  </a:lnTo>
                  <a:lnTo>
                    <a:pt x="0" y="3781424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0" y="0"/>
              <a:ext cx="22689820" cy="3790178"/>
            </a:xfrm>
            <a:custGeom>
              <a:avLst/>
              <a:gdLst/>
              <a:ahLst/>
              <a:cxnLst/>
              <a:rect l="l" t="t" r="r" b="b"/>
              <a:pathLst>
                <a:path w="22689820" h="3790178">
                  <a:moveTo>
                    <a:pt x="6350" y="0"/>
                  </a:moveTo>
                  <a:lnTo>
                    <a:pt x="22683470" y="0"/>
                  </a:lnTo>
                  <a:cubicBezTo>
                    <a:pt x="22687026" y="0"/>
                    <a:pt x="22689820" y="1926"/>
                    <a:pt x="22689820" y="4377"/>
                  </a:cubicBezTo>
                  <a:lnTo>
                    <a:pt x="22689820" y="3785801"/>
                  </a:lnTo>
                  <a:cubicBezTo>
                    <a:pt x="22689820" y="3788252"/>
                    <a:pt x="22687026" y="3790178"/>
                    <a:pt x="22683470" y="3790178"/>
                  </a:cubicBezTo>
                  <a:lnTo>
                    <a:pt x="6350" y="3790178"/>
                  </a:lnTo>
                  <a:cubicBezTo>
                    <a:pt x="2794" y="3790178"/>
                    <a:pt x="0" y="3788252"/>
                    <a:pt x="0" y="3785801"/>
                  </a:cubicBezTo>
                  <a:lnTo>
                    <a:pt x="0" y="4377"/>
                  </a:lnTo>
                  <a:cubicBezTo>
                    <a:pt x="0" y="1926"/>
                    <a:pt x="2794" y="0"/>
                    <a:pt x="6350" y="0"/>
                  </a:cubicBezTo>
                  <a:moveTo>
                    <a:pt x="6350" y="8753"/>
                  </a:moveTo>
                  <a:lnTo>
                    <a:pt x="6350" y="4377"/>
                  </a:lnTo>
                  <a:lnTo>
                    <a:pt x="12700" y="4377"/>
                  </a:lnTo>
                  <a:lnTo>
                    <a:pt x="12700" y="3785801"/>
                  </a:lnTo>
                  <a:lnTo>
                    <a:pt x="6350" y="3785801"/>
                  </a:lnTo>
                  <a:lnTo>
                    <a:pt x="6350" y="3781425"/>
                  </a:lnTo>
                  <a:lnTo>
                    <a:pt x="22683470" y="3781425"/>
                  </a:lnTo>
                  <a:lnTo>
                    <a:pt x="22683470" y="3785801"/>
                  </a:lnTo>
                  <a:lnTo>
                    <a:pt x="22677120" y="3785801"/>
                  </a:lnTo>
                  <a:lnTo>
                    <a:pt x="22677120" y="4377"/>
                  </a:lnTo>
                  <a:lnTo>
                    <a:pt x="22683470" y="4377"/>
                  </a:lnTo>
                  <a:lnTo>
                    <a:pt x="22683470" y="8753"/>
                  </a:lnTo>
                  <a:lnTo>
                    <a:pt x="6350" y="8753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22960" y="5259705"/>
            <a:ext cx="16596360" cy="561530"/>
            <a:chOff x="0" y="0"/>
            <a:chExt cx="22128480" cy="74870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2128480" cy="748706"/>
            </a:xfrm>
            <a:custGeom>
              <a:avLst/>
              <a:gdLst/>
              <a:ahLst/>
              <a:cxnLst/>
              <a:rect l="l" t="t" r="r" b="b"/>
              <a:pathLst>
                <a:path w="22128480" h="748706">
                  <a:moveTo>
                    <a:pt x="0" y="0"/>
                  </a:moveTo>
                  <a:lnTo>
                    <a:pt x="22128480" y="0"/>
                  </a:lnTo>
                  <a:lnTo>
                    <a:pt x="22128480" y="748706"/>
                  </a:lnTo>
                  <a:lnTo>
                    <a:pt x="0" y="7487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482" b="-52230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57150"/>
              <a:ext cx="22128480" cy="80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Core Methodology Components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548640" y="5774614"/>
            <a:ext cx="11541476" cy="1886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023" lvl="1" indent="-221011" algn="l">
              <a:lnSpc>
                <a:spcPts val="2933"/>
              </a:lnSpc>
              <a:buFont typeface="Arial"/>
              <a:buChar char="•"/>
            </a:pPr>
            <a:r>
              <a:rPr lang="en-US" sz="244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 Handling – Collect and structure user-provided symptoms and details</a:t>
            </a:r>
          </a:p>
          <a:p>
            <a:pPr marL="442023" lvl="1" indent="-221011" algn="l">
              <a:lnSpc>
                <a:spcPts val="2933"/>
              </a:lnSpc>
              <a:buFont typeface="Arial"/>
              <a:buChar char="•"/>
            </a:pPr>
            <a:r>
              <a:rPr lang="en-US" sz="244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Prompt Engineering – Convert input into meaningful prompts for AI</a:t>
            </a:r>
          </a:p>
          <a:p>
            <a:pPr marL="442023" lvl="1" indent="-221011" algn="l">
              <a:lnSpc>
                <a:spcPts val="2933"/>
              </a:lnSpc>
              <a:buFont typeface="Arial"/>
              <a:buChar char="•"/>
            </a:pPr>
            <a:r>
              <a:rPr lang="en-US" sz="244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API Integration – Connect frontend with Gemini API using backend routes</a:t>
            </a:r>
          </a:p>
          <a:p>
            <a:pPr marL="442023" lvl="1" indent="-221011" algn="l">
              <a:lnSpc>
                <a:spcPts val="2933"/>
              </a:lnSpc>
              <a:buFont typeface="Arial"/>
              <a:buChar char="•"/>
            </a:pPr>
            <a:r>
              <a:rPr lang="en-US" sz="244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Report Generation – Generate structured and readable clinical reports</a:t>
            </a:r>
          </a:p>
          <a:p>
            <a:pPr marL="442023" lvl="1" indent="-221011" algn="l">
              <a:lnSpc>
                <a:spcPts val="2933"/>
              </a:lnSpc>
              <a:buFont typeface="Arial"/>
              <a:buChar char="•"/>
            </a:pPr>
            <a:r>
              <a:rPr lang="en-US" sz="2444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 &amp; PDF Export – Display report and allow download as PDF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157591" y="4922520"/>
            <a:ext cx="25309" cy="5476897"/>
            <a:chOff x="0" y="0"/>
            <a:chExt cx="63500" cy="13741400"/>
          </a:xfrm>
        </p:grpSpPr>
        <p:sp>
          <p:nvSpPr>
            <p:cNvPr id="96" name="Freeform 96"/>
            <p:cNvSpPr/>
            <p:nvPr/>
          </p:nvSpPr>
          <p:spPr>
            <a:xfrm>
              <a:off x="1212" y="12700"/>
              <a:ext cx="61076" cy="13716000"/>
            </a:xfrm>
            <a:custGeom>
              <a:avLst/>
              <a:gdLst/>
              <a:ahLst/>
              <a:cxnLst/>
              <a:rect l="l" t="t" r="r" b="b"/>
              <a:pathLst>
                <a:path w="61076" h="13716000">
                  <a:moveTo>
                    <a:pt x="0" y="0"/>
                  </a:moveTo>
                  <a:lnTo>
                    <a:pt x="61076" y="0"/>
                  </a:lnTo>
                  <a:lnTo>
                    <a:pt x="61076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73000"/>
              </a:blip>
              <a:stretch>
                <a:fillRect l="-28323865" t="-92" r="-29309484" b="-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97"/>
            <p:cNvSpPr/>
            <p:nvPr/>
          </p:nvSpPr>
          <p:spPr>
            <a:xfrm>
              <a:off x="0" y="0"/>
              <a:ext cx="63500" cy="13741400"/>
            </a:xfrm>
            <a:custGeom>
              <a:avLst/>
              <a:gdLst/>
              <a:ahLst/>
              <a:cxnLst/>
              <a:rect l="l" t="t" r="r" b="b"/>
              <a:pathLst>
                <a:path w="63500" h="13741400">
                  <a:moveTo>
                    <a:pt x="1212" y="0"/>
                  </a:moveTo>
                  <a:lnTo>
                    <a:pt x="62288" y="0"/>
                  </a:lnTo>
                  <a:cubicBezTo>
                    <a:pt x="62955" y="0"/>
                    <a:pt x="63500" y="5715"/>
                    <a:pt x="63500" y="12700"/>
                  </a:cubicBezTo>
                  <a:lnTo>
                    <a:pt x="63500" y="13728700"/>
                  </a:lnTo>
                  <a:cubicBezTo>
                    <a:pt x="63500" y="13735686"/>
                    <a:pt x="62955" y="13741400"/>
                    <a:pt x="62288" y="13741400"/>
                  </a:cubicBezTo>
                  <a:lnTo>
                    <a:pt x="1212" y="13741400"/>
                  </a:lnTo>
                  <a:cubicBezTo>
                    <a:pt x="54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45" y="0"/>
                    <a:pt x="1212" y="0"/>
                  </a:cubicBezTo>
                  <a:moveTo>
                    <a:pt x="1212" y="25400"/>
                  </a:moveTo>
                  <a:lnTo>
                    <a:pt x="1212" y="12700"/>
                  </a:lnTo>
                  <a:lnTo>
                    <a:pt x="2424" y="12700"/>
                  </a:lnTo>
                  <a:lnTo>
                    <a:pt x="2424" y="13728700"/>
                  </a:lnTo>
                  <a:lnTo>
                    <a:pt x="1212" y="13728700"/>
                  </a:lnTo>
                  <a:lnTo>
                    <a:pt x="1212" y="13716000"/>
                  </a:lnTo>
                  <a:lnTo>
                    <a:pt x="62288" y="13716000"/>
                  </a:lnTo>
                  <a:lnTo>
                    <a:pt x="62288" y="13728700"/>
                  </a:lnTo>
                  <a:lnTo>
                    <a:pt x="61076" y="13728700"/>
                  </a:lnTo>
                  <a:lnTo>
                    <a:pt x="61076" y="12700"/>
                  </a:lnTo>
                  <a:lnTo>
                    <a:pt x="62288" y="12700"/>
                  </a:lnTo>
                  <a:lnTo>
                    <a:pt x="62288" y="25400"/>
                  </a:lnTo>
                  <a:lnTo>
                    <a:pt x="1212" y="25400"/>
                  </a:lnTo>
                  <a:close/>
                </a:path>
              </a:pathLst>
            </a:custGeom>
            <a:solidFill>
              <a:srgbClr val="E8A020">
                <a:alpha val="72941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B6B593A-0789-FF4D-D4D5-1C43536359A3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0590DC6A-0AFC-A57C-36DB-DD7EC8970E59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C0974FC3-E322-1C6C-EDF6-AF9C5A591A84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49424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Model &amp; System Used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3878" y="2189798"/>
            <a:ext cx="8376285" cy="2953702"/>
            <a:chOff x="0" y="0"/>
            <a:chExt cx="11168380" cy="3938270"/>
          </a:xfrm>
        </p:grpSpPr>
        <p:sp>
          <p:nvSpPr>
            <p:cNvPr id="15" name="Freeform 15"/>
            <p:cNvSpPr/>
            <p:nvPr/>
          </p:nvSpPr>
          <p:spPr>
            <a:xfrm>
              <a:off x="6350" y="2529"/>
              <a:ext cx="11155680" cy="3933212"/>
            </a:xfrm>
            <a:custGeom>
              <a:avLst/>
              <a:gdLst/>
              <a:ahLst/>
              <a:cxnLst/>
              <a:rect l="l" t="t" r="r" b="b"/>
              <a:pathLst>
                <a:path w="11155680" h="3933212">
                  <a:moveTo>
                    <a:pt x="0" y="0"/>
                  </a:moveTo>
                  <a:lnTo>
                    <a:pt x="11155680" y="0"/>
                  </a:lnTo>
                  <a:lnTo>
                    <a:pt x="11155680" y="3933212"/>
                  </a:lnTo>
                  <a:lnTo>
                    <a:pt x="0" y="3933212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1168380" cy="3938270"/>
            </a:xfrm>
            <a:custGeom>
              <a:avLst/>
              <a:gdLst/>
              <a:ahLst/>
              <a:cxnLst/>
              <a:rect l="l" t="t" r="r" b="b"/>
              <a:pathLst>
                <a:path w="11168380" h="3938270">
                  <a:moveTo>
                    <a:pt x="6350" y="0"/>
                  </a:moveTo>
                  <a:lnTo>
                    <a:pt x="11162030" y="0"/>
                  </a:lnTo>
                  <a:cubicBezTo>
                    <a:pt x="11165587" y="0"/>
                    <a:pt x="11168380" y="1113"/>
                    <a:pt x="11168380" y="2529"/>
                  </a:cubicBezTo>
                  <a:lnTo>
                    <a:pt x="11168380" y="3935741"/>
                  </a:lnTo>
                  <a:cubicBezTo>
                    <a:pt x="11168380" y="3937157"/>
                    <a:pt x="11165587" y="3938270"/>
                    <a:pt x="11162030" y="3938270"/>
                  </a:cubicBezTo>
                  <a:lnTo>
                    <a:pt x="6350" y="3938270"/>
                  </a:lnTo>
                  <a:cubicBezTo>
                    <a:pt x="2794" y="3938270"/>
                    <a:pt x="0" y="3937157"/>
                    <a:pt x="0" y="3935741"/>
                  </a:cubicBezTo>
                  <a:lnTo>
                    <a:pt x="0" y="2529"/>
                  </a:lnTo>
                  <a:cubicBezTo>
                    <a:pt x="0" y="1113"/>
                    <a:pt x="2794" y="0"/>
                    <a:pt x="6350" y="0"/>
                  </a:cubicBezTo>
                  <a:moveTo>
                    <a:pt x="6350" y="5058"/>
                  </a:moveTo>
                  <a:lnTo>
                    <a:pt x="6350" y="2529"/>
                  </a:lnTo>
                  <a:lnTo>
                    <a:pt x="12700" y="2529"/>
                  </a:lnTo>
                  <a:lnTo>
                    <a:pt x="12700" y="3935741"/>
                  </a:lnTo>
                  <a:lnTo>
                    <a:pt x="6350" y="3935741"/>
                  </a:lnTo>
                  <a:lnTo>
                    <a:pt x="6350" y="3933212"/>
                  </a:lnTo>
                  <a:lnTo>
                    <a:pt x="11162030" y="3933212"/>
                  </a:lnTo>
                  <a:lnTo>
                    <a:pt x="11162030" y="3935741"/>
                  </a:lnTo>
                  <a:lnTo>
                    <a:pt x="11155680" y="3935741"/>
                  </a:lnTo>
                  <a:lnTo>
                    <a:pt x="11155680" y="2529"/>
                  </a:lnTo>
                  <a:lnTo>
                    <a:pt x="11162030" y="2529"/>
                  </a:lnTo>
                  <a:lnTo>
                    <a:pt x="11162030" y="5058"/>
                  </a:lnTo>
                  <a:lnTo>
                    <a:pt x="6350" y="5058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2960" y="2331720"/>
            <a:ext cx="7955280" cy="524446"/>
            <a:chOff x="0" y="0"/>
            <a:chExt cx="10607040" cy="6992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07040" cy="699261"/>
            </a:xfrm>
            <a:custGeom>
              <a:avLst/>
              <a:gdLst/>
              <a:ahLst/>
              <a:cxnLst/>
              <a:rect l="l" t="t" r="r" b="b"/>
              <a:pathLst>
                <a:path w="10607040" h="699261">
                  <a:moveTo>
                    <a:pt x="0" y="0"/>
                  </a:moveTo>
                  <a:lnTo>
                    <a:pt x="10607040" y="0"/>
                  </a:lnTo>
                  <a:lnTo>
                    <a:pt x="10607040" y="699261"/>
                  </a:lnTo>
                  <a:lnTo>
                    <a:pt x="0" y="699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875" b="-2452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0607040" cy="7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Primary Model: Google Gemini (LLM)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43878" y="2905887"/>
            <a:ext cx="6065771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Pre-trained Large Language Model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via API (no training required)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Generates clinical reports from prompts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Handles natural language understanding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Output: Structured medical report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59278" y="2189798"/>
            <a:ext cx="8239125" cy="2953702"/>
            <a:chOff x="0" y="0"/>
            <a:chExt cx="10985500" cy="3938270"/>
          </a:xfrm>
        </p:grpSpPr>
        <p:sp>
          <p:nvSpPr>
            <p:cNvPr id="22" name="Freeform 22"/>
            <p:cNvSpPr/>
            <p:nvPr/>
          </p:nvSpPr>
          <p:spPr>
            <a:xfrm>
              <a:off x="6350" y="5455"/>
              <a:ext cx="10972800" cy="3927361"/>
            </a:xfrm>
            <a:custGeom>
              <a:avLst/>
              <a:gdLst/>
              <a:ahLst/>
              <a:cxnLst/>
              <a:rect l="l" t="t" r="r" b="b"/>
              <a:pathLst>
                <a:path w="10972800" h="3927361">
                  <a:moveTo>
                    <a:pt x="0" y="0"/>
                  </a:moveTo>
                  <a:lnTo>
                    <a:pt x="10972800" y="0"/>
                  </a:lnTo>
                  <a:lnTo>
                    <a:pt x="10972800" y="3927360"/>
                  </a:lnTo>
                  <a:lnTo>
                    <a:pt x="0" y="392736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10985500" cy="3938270"/>
            </a:xfrm>
            <a:custGeom>
              <a:avLst/>
              <a:gdLst/>
              <a:ahLst/>
              <a:cxnLst/>
              <a:rect l="l" t="t" r="r" b="b"/>
              <a:pathLst>
                <a:path w="10985500" h="3938270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400"/>
                    <a:pt x="10985500" y="5455"/>
                  </a:cubicBezTo>
                  <a:lnTo>
                    <a:pt x="10985500" y="3932815"/>
                  </a:lnTo>
                  <a:cubicBezTo>
                    <a:pt x="10985500" y="3935870"/>
                    <a:pt x="10982706" y="3938270"/>
                    <a:pt x="10979150" y="3938270"/>
                  </a:cubicBezTo>
                  <a:lnTo>
                    <a:pt x="6350" y="3938270"/>
                  </a:lnTo>
                  <a:cubicBezTo>
                    <a:pt x="2794" y="3938270"/>
                    <a:pt x="0" y="3935870"/>
                    <a:pt x="0" y="3932815"/>
                  </a:cubicBezTo>
                  <a:lnTo>
                    <a:pt x="0" y="5455"/>
                  </a:lnTo>
                  <a:cubicBezTo>
                    <a:pt x="0" y="2400"/>
                    <a:pt x="2794" y="0"/>
                    <a:pt x="6350" y="0"/>
                  </a:cubicBezTo>
                  <a:moveTo>
                    <a:pt x="6350" y="10909"/>
                  </a:moveTo>
                  <a:lnTo>
                    <a:pt x="6350" y="5455"/>
                  </a:lnTo>
                  <a:lnTo>
                    <a:pt x="12700" y="5455"/>
                  </a:lnTo>
                  <a:lnTo>
                    <a:pt x="12700" y="3932815"/>
                  </a:lnTo>
                  <a:lnTo>
                    <a:pt x="6350" y="3932815"/>
                  </a:lnTo>
                  <a:lnTo>
                    <a:pt x="6350" y="3927361"/>
                  </a:lnTo>
                  <a:lnTo>
                    <a:pt x="10979150" y="3927361"/>
                  </a:lnTo>
                  <a:lnTo>
                    <a:pt x="10979150" y="3932815"/>
                  </a:lnTo>
                  <a:lnTo>
                    <a:pt x="10972800" y="3932815"/>
                  </a:lnTo>
                  <a:lnTo>
                    <a:pt x="10972800" y="5455"/>
                  </a:lnTo>
                  <a:lnTo>
                    <a:pt x="10979150" y="5455"/>
                  </a:lnTo>
                  <a:lnTo>
                    <a:pt x="10979150" y="10909"/>
                  </a:lnTo>
                  <a:lnTo>
                    <a:pt x="6350" y="10909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38360" y="2331720"/>
            <a:ext cx="7818120" cy="524446"/>
            <a:chOff x="0" y="0"/>
            <a:chExt cx="10424160" cy="6992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24160" cy="699261"/>
            </a:xfrm>
            <a:custGeom>
              <a:avLst/>
              <a:gdLst/>
              <a:ahLst/>
              <a:cxnLst/>
              <a:rect l="l" t="t" r="r" b="b"/>
              <a:pathLst>
                <a:path w="10424160" h="699261">
                  <a:moveTo>
                    <a:pt x="0" y="0"/>
                  </a:moveTo>
                  <a:lnTo>
                    <a:pt x="10424160" y="0"/>
                  </a:lnTo>
                  <a:lnTo>
                    <a:pt x="10424160" y="699261"/>
                  </a:lnTo>
                  <a:lnTo>
                    <a:pt x="0" y="699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0779" b="-2401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0424160" cy="7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Secondary Module: Prompt Engineering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692640" y="2905887"/>
            <a:ext cx="756666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Purpose: Convert user input into meaningful prompts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Technique: Structured prompt design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Integration: Sends prompt to Gemini API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59278" y="5476875"/>
            <a:ext cx="8239125" cy="2951480"/>
            <a:chOff x="0" y="0"/>
            <a:chExt cx="10985500" cy="3935307"/>
          </a:xfrm>
        </p:grpSpPr>
        <p:sp>
          <p:nvSpPr>
            <p:cNvPr id="29" name="Freeform 29"/>
            <p:cNvSpPr/>
            <p:nvPr/>
          </p:nvSpPr>
          <p:spPr>
            <a:xfrm>
              <a:off x="6350" y="4956"/>
              <a:ext cx="10972800" cy="3925394"/>
            </a:xfrm>
            <a:custGeom>
              <a:avLst/>
              <a:gdLst/>
              <a:ahLst/>
              <a:cxnLst/>
              <a:rect l="l" t="t" r="r" b="b"/>
              <a:pathLst>
                <a:path w="10972800" h="3925394">
                  <a:moveTo>
                    <a:pt x="0" y="0"/>
                  </a:moveTo>
                  <a:lnTo>
                    <a:pt x="10972800" y="0"/>
                  </a:lnTo>
                  <a:lnTo>
                    <a:pt x="10972800" y="3925394"/>
                  </a:lnTo>
                  <a:lnTo>
                    <a:pt x="0" y="3925394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10985500" cy="3935307"/>
            </a:xfrm>
            <a:custGeom>
              <a:avLst/>
              <a:gdLst/>
              <a:ahLst/>
              <a:cxnLst/>
              <a:rect l="l" t="t" r="r" b="b"/>
              <a:pathLst>
                <a:path w="10985500" h="3935307">
                  <a:moveTo>
                    <a:pt x="6350" y="0"/>
                  </a:moveTo>
                  <a:lnTo>
                    <a:pt x="10979150" y="0"/>
                  </a:lnTo>
                  <a:cubicBezTo>
                    <a:pt x="10982706" y="0"/>
                    <a:pt x="10985500" y="2181"/>
                    <a:pt x="10985500" y="4956"/>
                  </a:cubicBezTo>
                  <a:lnTo>
                    <a:pt x="10985500" y="3930350"/>
                  </a:lnTo>
                  <a:cubicBezTo>
                    <a:pt x="10985500" y="3933126"/>
                    <a:pt x="10982706" y="3935307"/>
                    <a:pt x="10979150" y="3935307"/>
                  </a:cubicBezTo>
                  <a:lnTo>
                    <a:pt x="6350" y="3935307"/>
                  </a:lnTo>
                  <a:cubicBezTo>
                    <a:pt x="2794" y="3935307"/>
                    <a:pt x="0" y="3933126"/>
                    <a:pt x="0" y="3930350"/>
                  </a:cubicBezTo>
                  <a:lnTo>
                    <a:pt x="0" y="4956"/>
                  </a:lnTo>
                  <a:cubicBezTo>
                    <a:pt x="0" y="2181"/>
                    <a:pt x="2794" y="0"/>
                    <a:pt x="6350" y="0"/>
                  </a:cubicBezTo>
                  <a:moveTo>
                    <a:pt x="6350" y="9913"/>
                  </a:moveTo>
                  <a:lnTo>
                    <a:pt x="6350" y="4956"/>
                  </a:lnTo>
                  <a:lnTo>
                    <a:pt x="12700" y="4956"/>
                  </a:lnTo>
                  <a:lnTo>
                    <a:pt x="12700" y="3930350"/>
                  </a:lnTo>
                  <a:lnTo>
                    <a:pt x="6350" y="3930350"/>
                  </a:lnTo>
                  <a:lnTo>
                    <a:pt x="6350" y="3925394"/>
                  </a:lnTo>
                  <a:lnTo>
                    <a:pt x="10979150" y="3925394"/>
                  </a:lnTo>
                  <a:lnTo>
                    <a:pt x="10979150" y="3930350"/>
                  </a:lnTo>
                  <a:lnTo>
                    <a:pt x="10972800" y="3930350"/>
                  </a:lnTo>
                  <a:lnTo>
                    <a:pt x="10972800" y="4956"/>
                  </a:lnTo>
                  <a:lnTo>
                    <a:pt x="10979150" y="4956"/>
                  </a:lnTo>
                  <a:lnTo>
                    <a:pt x="10979150" y="9913"/>
                  </a:lnTo>
                  <a:lnTo>
                    <a:pt x="6350" y="9913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04070" y="5603653"/>
            <a:ext cx="7818120" cy="524446"/>
            <a:chOff x="0" y="0"/>
            <a:chExt cx="10424160" cy="6992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24160" cy="699261"/>
            </a:xfrm>
            <a:custGeom>
              <a:avLst/>
              <a:gdLst/>
              <a:ahLst/>
              <a:cxnLst/>
              <a:rect l="l" t="t" r="r" b="b"/>
              <a:pathLst>
                <a:path w="10424160" h="699261">
                  <a:moveTo>
                    <a:pt x="0" y="0"/>
                  </a:moveTo>
                  <a:lnTo>
                    <a:pt x="10424160" y="0"/>
                  </a:lnTo>
                  <a:lnTo>
                    <a:pt x="10424160" y="699261"/>
                  </a:lnTo>
                  <a:lnTo>
                    <a:pt x="0" y="699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0779" b="-2401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0424160" cy="7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 u="sng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System Integration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459278" y="6175724"/>
            <a:ext cx="7566660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Backend: Next.js API Routes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Handles request &amp; response flow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Connects frontend with Gemini API</a:t>
            </a:r>
          </a:p>
          <a:p>
            <a:pPr marL="434032" lvl="1" indent="-217016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Manages errors and data processing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B393E7-9CCD-45BC-A1FA-FF9B20A6743C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016A4E7-76BF-4814-B128-48F87D90166F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114F74D-E8CA-B092-E500-1FDE1BCE7A63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94240" cy="1548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59"/>
                </a:lnSpc>
              </a:pPr>
              <a:r>
                <a:rPr lang="en-US" sz="42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Technologies and Tools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275" y="2185035"/>
            <a:ext cx="5093970" cy="3242310"/>
            <a:chOff x="0" y="0"/>
            <a:chExt cx="6791960" cy="4323080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6766560" cy="4297680"/>
            </a:xfrm>
            <a:custGeom>
              <a:avLst/>
              <a:gdLst/>
              <a:ahLst/>
              <a:cxnLst/>
              <a:rect l="l" t="t" r="r" b="b"/>
              <a:pathLst>
                <a:path w="6766560" h="4297680">
                  <a:moveTo>
                    <a:pt x="0" y="0"/>
                  </a:moveTo>
                  <a:lnTo>
                    <a:pt x="6766560" y="0"/>
                  </a:lnTo>
                  <a:lnTo>
                    <a:pt x="676656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6791960" cy="4323080"/>
            </a:xfrm>
            <a:custGeom>
              <a:avLst/>
              <a:gdLst/>
              <a:ahLst/>
              <a:cxnLst/>
              <a:rect l="l" t="t" r="r" b="b"/>
              <a:pathLst>
                <a:path w="6791960" h="4323080">
                  <a:moveTo>
                    <a:pt x="12700" y="0"/>
                  </a:moveTo>
                  <a:lnTo>
                    <a:pt x="6779260" y="0"/>
                  </a:lnTo>
                  <a:cubicBezTo>
                    <a:pt x="6786245" y="0"/>
                    <a:pt x="6791960" y="5715"/>
                    <a:pt x="6791960" y="12700"/>
                  </a:cubicBezTo>
                  <a:lnTo>
                    <a:pt x="6791960" y="4310380"/>
                  </a:lnTo>
                  <a:cubicBezTo>
                    <a:pt x="6791960" y="4317365"/>
                    <a:pt x="6786245" y="4323080"/>
                    <a:pt x="6779260" y="4323080"/>
                  </a:cubicBezTo>
                  <a:lnTo>
                    <a:pt x="12700" y="4323080"/>
                  </a:lnTo>
                  <a:cubicBezTo>
                    <a:pt x="5715" y="4323080"/>
                    <a:pt x="0" y="4317365"/>
                    <a:pt x="0" y="4310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0380"/>
                  </a:lnTo>
                  <a:lnTo>
                    <a:pt x="12700" y="4310380"/>
                  </a:lnTo>
                  <a:lnTo>
                    <a:pt x="12700" y="4297680"/>
                  </a:lnTo>
                  <a:lnTo>
                    <a:pt x="6779260" y="4297680"/>
                  </a:lnTo>
                  <a:lnTo>
                    <a:pt x="6779260" y="4310380"/>
                  </a:lnTo>
                  <a:lnTo>
                    <a:pt x="6766560" y="4310380"/>
                  </a:lnTo>
                  <a:lnTo>
                    <a:pt x="6766560" y="12700"/>
                  </a:lnTo>
                  <a:lnTo>
                    <a:pt x="6779260" y="12700"/>
                  </a:lnTo>
                  <a:lnTo>
                    <a:pt x="6779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640" y="2523744"/>
            <a:ext cx="5074920" cy="960120"/>
            <a:chOff x="0" y="0"/>
            <a:chExt cx="6766560" cy="12801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66560" cy="1280160"/>
            </a:xfrm>
            <a:custGeom>
              <a:avLst/>
              <a:gdLst/>
              <a:ahLst/>
              <a:cxnLst/>
              <a:rect l="l" t="t" r="r" b="b"/>
              <a:pathLst>
                <a:path w="6766560" h="1280160">
                  <a:moveTo>
                    <a:pt x="0" y="0"/>
                  </a:moveTo>
                  <a:lnTo>
                    <a:pt x="6766560" y="0"/>
                  </a:lnTo>
                  <a:lnTo>
                    <a:pt x="6766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92" b="-529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67665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Programming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Language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3429000"/>
            <a:ext cx="5074920" cy="1508760"/>
            <a:chOff x="0" y="0"/>
            <a:chExt cx="6766560" cy="20116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66560" cy="2011680"/>
            </a:xfrm>
            <a:custGeom>
              <a:avLst/>
              <a:gdLst/>
              <a:ahLst/>
              <a:cxnLst/>
              <a:rect l="l" t="t" r="r" b="b"/>
              <a:pathLst>
                <a:path w="6766560" h="201168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" b="-155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676656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JavaScript (ES6+)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99835" y="2185035"/>
            <a:ext cx="5093970" cy="3242310"/>
            <a:chOff x="0" y="0"/>
            <a:chExt cx="6791960" cy="4323080"/>
          </a:xfrm>
        </p:grpSpPr>
        <p:sp>
          <p:nvSpPr>
            <p:cNvPr id="24" name="Freeform 24"/>
            <p:cNvSpPr/>
            <p:nvPr/>
          </p:nvSpPr>
          <p:spPr>
            <a:xfrm>
              <a:off x="12700" y="12700"/>
              <a:ext cx="6766560" cy="4297680"/>
            </a:xfrm>
            <a:custGeom>
              <a:avLst/>
              <a:gdLst/>
              <a:ahLst/>
              <a:cxnLst/>
              <a:rect l="l" t="t" r="r" b="b"/>
              <a:pathLst>
                <a:path w="6766560" h="4297680">
                  <a:moveTo>
                    <a:pt x="0" y="0"/>
                  </a:moveTo>
                  <a:lnTo>
                    <a:pt x="6766560" y="0"/>
                  </a:lnTo>
                  <a:lnTo>
                    <a:pt x="676656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6791960" cy="4323080"/>
            </a:xfrm>
            <a:custGeom>
              <a:avLst/>
              <a:gdLst/>
              <a:ahLst/>
              <a:cxnLst/>
              <a:rect l="l" t="t" r="r" b="b"/>
              <a:pathLst>
                <a:path w="6791960" h="4323080">
                  <a:moveTo>
                    <a:pt x="12700" y="0"/>
                  </a:moveTo>
                  <a:lnTo>
                    <a:pt x="6779260" y="0"/>
                  </a:lnTo>
                  <a:cubicBezTo>
                    <a:pt x="6786245" y="0"/>
                    <a:pt x="6791960" y="5715"/>
                    <a:pt x="6791960" y="12700"/>
                  </a:cubicBezTo>
                  <a:lnTo>
                    <a:pt x="6791960" y="4310380"/>
                  </a:lnTo>
                  <a:cubicBezTo>
                    <a:pt x="6791960" y="4317365"/>
                    <a:pt x="6786245" y="4323080"/>
                    <a:pt x="6779260" y="4323080"/>
                  </a:cubicBezTo>
                  <a:lnTo>
                    <a:pt x="12700" y="4323080"/>
                  </a:lnTo>
                  <a:cubicBezTo>
                    <a:pt x="5715" y="4323080"/>
                    <a:pt x="0" y="4317365"/>
                    <a:pt x="0" y="4310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0380"/>
                  </a:lnTo>
                  <a:lnTo>
                    <a:pt x="12700" y="4310380"/>
                  </a:lnTo>
                  <a:lnTo>
                    <a:pt x="12700" y="4297680"/>
                  </a:lnTo>
                  <a:lnTo>
                    <a:pt x="6779260" y="4297680"/>
                  </a:lnTo>
                  <a:lnTo>
                    <a:pt x="6779260" y="4310380"/>
                  </a:lnTo>
                  <a:lnTo>
                    <a:pt x="6766560" y="4310380"/>
                  </a:lnTo>
                  <a:lnTo>
                    <a:pt x="6766560" y="12700"/>
                  </a:lnTo>
                  <a:lnTo>
                    <a:pt x="6779260" y="12700"/>
                  </a:lnTo>
                  <a:lnTo>
                    <a:pt x="6779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09360" y="2468880"/>
            <a:ext cx="4922035" cy="960120"/>
            <a:chOff x="0" y="0"/>
            <a:chExt cx="6562714" cy="12801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62713" cy="1280160"/>
            </a:xfrm>
            <a:custGeom>
              <a:avLst/>
              <a:gdLst/>
              <a:ahLst/>
              <a:cxnLst/>
              <a:rect l="l" t="t" r="r" b="b"/>
              <a:pathLst>
                <a:path w="6562713" h="1280160">
                  <a:moveTo>
                    <a:pt x="0" y="0"/>
                  </a:moveTo>
                  <a:lnTo>
                    <a:pt x="6562713" y="0"/>
                  </a:lnTo>
                  <a:lnTo>
                    <a:pt x="6562713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92" r="-3106" b="-529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6562714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Frontend 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Framework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09360" y="3429000"/>
            <a:ext cx="5074920" cy="1508760"/>
            <a:chOff x="0" y="0"/>
            <a:chExt cx="6766560" cy="20116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766560" cy="2011680"/>
            </a:xfrm>
            <a:custGeom>
              <a:avLst/>
              <a:gdLst/>
              <a:ahLst/>
              <a:cxnLst/>
              <a:rect l="l" t="t" r="r" b="b"/>
              <a:pathLst>
                <a:path w="6766560" h="201168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" b="-155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676656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React.js, Next.js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23395" y="2185035"/>
            <a:ext cx="5093970" cy="3242310"/>
            <a:chOff x="0" y="0"/>
            <a:chExt cx="6791960" cy="4323080"/>
          </a:xfrm>
        </p:grpSpPr>
        <p:sp>
          <p:nvSpPr>
            <p:cNvPr id="33" name="Freeform 33"/>
            <p:cNvSpPr/>
            <p:nvPr/>
          </p:nvSpPr>
          <p:spPr>
            <a:xfrm>
              <a:off x="12700" y="12700"/>
              <a:ext cx="6766560" cy="4297680"/>
            </a:xfrm>
            <a:custGeom>
              <a:avLst/>
              <a:gdLst/>
              <a:ahLst/>
              <a:cxnLst/>
              <a:rect l="l" t="t" r="r" b="b"/>
              <a:pathLst>
                <a:path w="6766560" h="4297680">
                  <a:moveTo>
                    <a:pt x="0" y="0"/>
                  </a:moveTo>
                  <a:lnTo>
                    <a:pt x="6766560" y="0"/>
                  </a:lnTo>
                  <a:lnTo>
                    <a:pt x="676656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6791960" cy="4323080"/>
            </a:xfrm>
            <a:custGeom>
              <a:avLst/>
              <a:gdLst/>
              <a:ahLst/>
              <a:cxnLst/>
              <a:rect l="l" t="t" r="r" b="b"/>
              <a:pathLst>
                <a:path w="6791960" h="4323080">
                  <a:moveTo>
                    <a:pt x="12700" y="0"/>
                  </a:moveTo>
                  <a:lnTo>
                    <a:pt x="6779260" y="0"/>
                  </a:lnTo>
                  <a:cubicBezTo>
                    <a:pt x="6786245" y="0"/>
                    <a:pt x="6791960" y="5715"/>
                    <a:pt x="6791960" y="12700"/>
                  </a:cubicBezTo>
                  <a:lnTo>
                    <a:pt x="6791960" y="4310380"/>
                  </a:lnTo>
                  <a:cubicBezTo>
                    <a:pt x="6791960" y="4317365"/>
                    <a:pt x="6786245" y="4323080"/>
                    <a:pt x="6779260" y="4323080"/>
                  </a:cubicBezTo>
                  <a:lnTo>
                    <a:pt x="12700" y="4323080"/>
                  </a:lnTo>
                  <a:cubicBezTo>
                    <a:pt x="5715" y="4323080"/>
                    <a:pt x="0" y="4317365"/>
                    <a:pt x="0" y="4310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0380"/>
                  </a:lnTo>
                  <a:lnTo>
                    <a:pt x="12700" y="4310380"/>
                  </a:lnTo>
                  <a:lnTo>
                    <a:pt x="12700" y="4297680"/>
                  </a:lnTo>
                  <a:lnTo>
                    <a:pt x="6779260" y="4297680"/>
                  </a:lnTo>
                  <a:lnTo>
                    <a:pt x="6779260" y="4310380"/>
                  </a:lnTo>
                  <a:lnTo>
                    <a:pt x="6766560" y="4310380"/>
                  </a:lnTo>
                  <a:lnTo>
                    <a:pt x="6766560" y="12700"/>
                  </a:lnTo>
                  <a:lnTo>
                    <a:pt x="6779260" y="12700"/>
                  </a:lnTo>
                  <a:lnTo>
                    <a:pt x="6779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932920" y="2468880"/>
            <a:ext cx="5074920" cy="960120"/>
            <a:chOff x="0" y="0"/>
            <a:chExt cx="6766560" cy="12801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766560" cy="1280160"/>
            </a:xfrm>
            <a:custGeom>
              <a:avLst/>
              <a:gdLst/>
              <a:ahLst/>
              <a:cxnLst/>
              <a:rect l="l" t="t" r="r" b="b"/>
              <a:pathLst>
                <a:path w="6766560" h="1280160">
                  <a:moveTo>
                    <a:pt x="0" y="0"/>
                  </a:moveTo>
                  <a:lnTo>
                    <a:pt x="6766560" y="0"/>
                  </a:lnTo>
                  <a:lnTo>
                    <a:pt x="6766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92" b="-529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67665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AI Integration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926670" y="3483864"/>
            <a:ext cx="3087420" cy="1687702"/>
            <a:chOff x="0" y="0"/>
            <a:chExt cx="4116561" cy="225026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116560" cy="2250269"/>
            </a:xfrm>
            <a:custGeom>
              <a:avLst/>
              <a:gdLst/>
              <a:ahLst/>
              <a:cxnLst/>
              <a:rect l="l" t="t" r="r" b="b"/>
              <a:pathLst>
                <a:path w="4116560" h="2250269">
                  <a:moveTo>
                    <a:pt x="0" y="0"/>
                  </a:moveTo>
                  <a:lnTo>
                    <a:pt x="4116560" y="0"/>
                  </a:lnTo>
                  <a:lnTo>
                    <a:pt x="4116560" y="2250269"/>
                  </a:lnTo>
                  <a:lnTo>
                    <a:pt x="0" y="22502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92" r="-64374" b="-329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4116561" cy="23169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Google Gemini API (LLM)</a:t>
              </a:r>
            </a:p>
            <a:p>
              <a:pPr algn="ctr">
                <a:lnSpc>
                  <a:spcPts val="4079"/>
                </a:lnSpc>
              </a:pPr>
              <a:endParaRPr lang="en-US" sz="33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6275" y="5888355"/>
            <a:ext cx="5093970" cy="3242310"/>
            <a:chOff x="0" y="0"/>
            <a:chExt cx="6791960" cy="4323080"/>
          </a:xfrm>
        </p:grpSpPr>
        <p:sp>
          <p:nvSpPr>
            <p:cNvPr id="42" name="Freeform 42"/>
            <p:cNvSpPr/>
            <p:nvPr/>
          </p:nvSpPr>
          <p:spPr>
            <a:xfrm>
              <a:off x="12700" y="12700"/>
              <a:ext cx="6766560" cy="4297680"/>
            </a:xfrm>
            <a:custGeom>
              <a:avLst/>
              <a:gdLst/>
              <a:ahLst/>
              <a:cxnLst/>
              <a:rect l="l" t="t" r="r" b="b"/>
              <a:pathLst>
                <a:path w="6766560" h="4297680">
                  <a:moveTo>
                    <a:pt x="0" y="0"/>
                  </a:moveTo>
                  <a:lnTo>
                    <a:pt x="6766560" y="0"/>
                  </a:lnTo>
                  <a:lnTo>
                    <a:pt x="676656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7B3E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6791960" cy="4323080"/>
            </a:xfrm>
            <a:custGeom>
              <a:avLst/>
              <a:gdLst/>
              <a:ahLst/>
              <a:cxnLst/>
              <a:rect l="l" t="t" r="r" b="b"/>
              <a:pathLst>
                <a:path w="6791960" h="4323080">
                  <a:moveTo>
                    <a:pt x="12700" y="0"/>
                  </a:moveTo>
                  <a:lnTo>
                    <a:pt x="6779260" y="0"/>
                  </a:lnTo>
                  <a:cubicBezTo>
                    <a:pt x="6786245" y="0"/>
                    <a:pt x="6791960" y="5715"/>
                    <a:pt x="6791960" y="12700"/>
                  </a:cubicBezTo>
                  <a:lnTo>
                    <a:pt x="6791960" y="4310380"/>
                  </a:lnTo>
                  <a:cubicBezTo>
                    <a:pt x="6791960" y="4317365"/>
                    <a:pt x="6786245" y="4323080"/>
                    <a:pt x="6779260" y="4323080"/>
                  </a:cubicBezTo>
                  <a:lnTo>
                    <a:pt x="12700" y="4323080"/>
                  </a:lnTo>
                  <a:cubicBezTo>
                    <a:pt x="5715" y="4323080"/>
                    <a:pt x="0" y="4317365"/>
                    <a:pt x="0" y="4310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0380"/>
                  </a:lnTo>
                  <a:lnTo>
                    <a:pt x="12700" y="4310380"/>
                  </a:lnTo>
                  <a:lnTo>
                    <a:pt x="12700" y="4297680"/>
                  </a:lnTo>
                  <a:lnTo>
                    <a:pt x="6779260" y="4297680"/>
                  </a:lnTo>
                  <a:lnTo>
                    <a:pt x="6779260" y="4310380"/>
                  </a:lnTo>
                  <a:lnTo>
                    <a:pt x="6766560" y="4310380"/>
                  </a:lnTo>
                  <a:lnTo>
                    <a:pt x="6766560" y="12700"/>
                  </a:lnTo>
                  <a:lnTo>
                    <a:pt x="6779260" y="12700"/>
                  </a:lnTo>
                  <a:lnTo>
                    <a:pt x="6779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7B3E8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6172200"/>
            <a:ext cx="5074920" cy="960120"/>
            <a:chOff x="0" y="0"/>
            <a:chExt cx="6766560" cy="12801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766560" cy="1280160"/>
            </a:xfrm>
            <a:custGeom>
              <a:avLst/>
              <a:gdLst/>
              <a:ahLst/>
              <a:cxnLst/>
              <a:rect l="l" t="t" r="r" b="b"/>
              <a:pathLst>
                <a:path w="6766560" h="1280160">
                  <a:moveTo>
                    <a:pt x="0" y="0"/>
                  </a:moveTo>
                  <a:lnTo>
                    <a:pt x="6766560" y="0"/>
                  </a:lnTo>
                  <a:lnTo>
                    <a:pt x="6766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92" b="-529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67665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UI / Styling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7132320"/>
            <a:ext cx="5074920" cy="1508760"/>
            <a:chOff x="0" y="0"/>
            <a:chExt cx="6766560" cy="20116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66560" cy="2011680"/>
            </a:xfrm>
            <a:custGeom>
              <a:avLst/>
              <a:gdLst/>
              <a:ahLst/>
              <a:cxnLst/>
              <a:rect l="l" t="t" r="r" b="b"/>
              <a:pathLst>
                <a:path w="6766560" h="201168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" b="-155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676656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HTML, CSS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99835" y="5888355"/>
            <a:ext cx="5093970" cy="3242310"/>
            <a:chOff x="0" y="0"/>
            <a:chExt cx="6791960" cy="4323080"/>
          </a:xfrm>
        </p:grpSpPr>
        <p:sp>
          <p:nvSpPr>
            <p:cNvPr id="51" name="Freeform 51"/>
            <p:cNvSpPr/>
            <p:nvPr/>
          </p:nvSpPr>
          <p:spPr>
            <a:xfrm>
              <a:off x="12700" y="12700"/>
              <a:ext cx="6766560" cy="4297680"/>
            </a:xfrm>
            <a:custGeom>
              <a:avLst/>
              <a:gdLst/>
              <a:ahLst/>
              <a:cxnLst/>
              <a:rect l="l" t="t" r="r" b="b"/>
              <a:pathLst>
                <a:path w="6766560" h="4297680">
                  <a:moveTo>
                    <a:pt x="0" y="0"/>
                  </a:moveTo>
                  <a:lnTo>
                    <a:pt x="6766560" y="0"/>
                  </a:lnTo>
                  <a:lnTo>
                    <a:pt x="676656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B850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6791960" cy="4323080"/>
            </a:xfrm>
            <a:custGeom>
              <a:avLst/>
              <a:gdLst/>
              <a:ahLst/>
              <a:cxnLst/>
              <a:rect l="l" t="t" r="r" b="b"/>
              <a:pathLst>
                <a:path w="6791960" h="4323080">
                  <a:moveTo>
                    <a:pt x="12700" y="0"/>
                  </a:moveTo>
                  <a:lnTo>
                    <a:pt x="6779260" y="0"/>
                  </a:lnTo>
                  <a:cubicBezTo>
                    <a:pt x="6786245" y="0"/>
                    <a:pt x="6791960" y="5715"/>
                    <a:pt x="6791960" y="12700"/>
                  </a:cubicBezTo>
                  <a:lnTo>
                    <a:pt x="6791960" y="4310380"/>
                  </a:lnTo>
                  <a:cubicBezTo>
                    <a:pt x="6791960" y="4317365"/>
                    <a:pt x="6786245" y="4323080"/>
                    <a:pt x="6779260" y="4323080"/>
                  </a:cubicBezTo>
                  <a:lnTo>
                    <a:pt x="12700" y="4323080"/>
                  </a:lnTo>
                  <a:cubicBezTo>
                    <a:pt x="5715" y="4323080"/>
                    <a:pt x="0" y="4317365"/>
                    <a:pt x="0" y="4310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0380"/>
                  </a:lnTo>
                  <a:lnTo>
                    <a:pt x="12700" y="4310380"/>
                  </a:lnTo>
                  <a:lnTo>
                    <a:pt x="12700" y="4297680"/>
                  </a:lnTo>
                  <a:lnTo>
                    <a:pt x="6779260" y="4297680"/>
                  </a:lnTo>
                  <a:lnTo>
                    <a:pt x="6779260" y="4310380"/>
                  </a:lnTo>
                  <a:lnTo>
                    <a:pt x="6766560" y="4310380"/>
                  </a:lnTo>
                  <a:lnTo>
                    <a:pt x="6766560" y="12700"/>
                  </a:lnTo>
                  <a:lnTo>
                    <a:pt x="6779260" y="12700"/>
                  </a:lnTo>
                  <a:lnTo>
                    <a:pt x="6779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504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09360" y="6172200"/>
            <a:ext cx="5074920" cy="960120"/>
            <a:chOff x="0" y="0"/>
            <a:chExt cx="6766560" cy="12801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766560" cy="1280160"/>
            </a:xfrm>
            <a:custGeom>
              <a:avLst/>
              <a:gdLst/>
              <a:ahLst/>
              <a:cxnLst/>
              <a:rect l="l" t="t" r="r" b="b"/>
              <a:pathLst>
                <a:path w="6766560" h="1280160">
                  <a:moveTo>
                    <a:pt x="0" y="0"/>
                  </a:moveTo>
                  <a:lnTo>
                    <a:pt x="6766560" y="0"/>
                  </a:lnTo>
                  <a:lnTo>
                    <a:pt x="6766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92" b="-529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67665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Development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Environment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309360" y="7132320"/>
            <a:ext cx="5074920" cy="1508760"/>
            <a:chOff x="0" y="0"/>
            <a:chExt cx="6766560" cy="20116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766560" cy="2011680"/>
            </a:xfrm>
            <a:custGeom>
              <a:avLst/>
              <a:gdLst/>
              <a:ahLst/>
              <a:cxnLst/>
              <a:rect l="l" t="t" r="r" b="b"/>
              <a:pathLst>
                <a:path w="6766560" h="201168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" b="-155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676656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VS Code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923395" y="5888355"/>
            <a:ext cx="5093970" cy="3242310"/>
            <a:chOff x="0" y="0"/>
            <a:chExt cx="6791960" cy="4323080"/>
          </a:xfrm>
        </p:grpSpPr>
        <p:sp>
          <p:nvSpPr>
            <p:cNvPr id="60" name="Freeform 60"/>
            <p:cNvSpPr/>
            <p:nvPr/>
          </p:nvSpPr>
          <p:spPr>
            <a:xfrm>
              <a:off x="12700" y="12700"/>
              <a:ext cx="6766560" cy="4297680"/>
            </a:xfrm>
            <a:custGeom>
              <a:avLst/>
              <a:gdLst/>
              <a:ahLst/>
              <a:cxnLst/>
              <a:rect l="l" t="t" r="r" b="b"/>
              <a:pathLst>
                <a:path w="6766560" h="4297680">
                  <a:moveTo>
                    <a:pt x="0" y="0"/>
                  </a:moveTo>
                  <a:lnTo>
                    <a:pt x="6766560" y="0"/>
                  </a:lnTo>
                  <a:lnTo>
                    <a:pt x="6766560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4A4A6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6791960" cy="4323080"/>
            </a:xfrm>
            <a:custGeom>
              <a:avLst/>
              <a:gdLst/>
              <a:ahLst/>
              <a:cxnLst/>
              <a:rect l="l" t="t" r="r" b="b"/>
              <a:pathLst>
                <a:path w="6791960" h="4323080">
                  <a:moveTo>
                    <a:pt x="12700" y="0"/>
                  </a:moveTo>
                  <a:lnTo>
                    <a:pt x="6779260" y="0"/>
                  </a:lnTo>
                  <a:cubicBezTo>
                    <a:pt x="6786245" y="0"/>
                    <a:pt x="6791960" y="5715"/>
                    <a:pt x="6791960" y="12700"/>
                  </a:cubicBezTo>
                  <a:lnTo>
                    <a:pt x="6791960" y="4310380"/>
                  </a:lnTo>
                  <a:cubicBezTo>
                    <a:pt x="6791960" y="4317365"/>
                    <a:pt x="6786245" y="4323080"/>
                    <a:pt x="6779260" y="4323080"/>
                  </a:cubicBezTo>
                  <a:lnTo>
                    <a:pt x="12700" y="4323080"/>
                  </a:lnTo>
                  <a:cubicBezTo>
                    <a:pt x="5715" y="4323080"/>
                    <a:pt x="0" y="4317365"/>
                    <a:pt x="0" y="4310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0380"/>
                  </a:lnTo>
                  <a:lnTo>
                    <a:pt x="12700" y="4310380"/>
                  </a:lnTo>
                  <a:lnTo>
                    <a:pt x="12700" y="4297680"/>
                  </a:lnTo>
                  <a:lnTo>
                    <a:pt x="6779260" y="4297680"/>
                  </a:lnTo>
                  <a:lnTo>
                    <a:pt x="6779260" y="4310380"/>
                  </a:lnTo>
                  <a:lnTo>
                    <a:pt x="6766560" y="4310380"/>
                  </a:lnTo>
                  <a:lnTo>
                    <a:pt x="6766560" y="12700"/>
                  </a:lnTo>
                  <a:lnTo>
                    <a:pt x="6779260" y="12700"/>
                  </a:lnTo>
                  <a:lnTo>
                    <a:pt x="6779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A4A6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932920" y="6172200"/>
            <a:ext cx="5074920" cy="960120"/>
            <a:chOff x="0" y="0"/>
            <a:chExt cx="6766560" cy="12801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766560" cy="1280160"/>
            </a:xfrm>
            <a:custGeom>
              <a:avLst/>
              <a:gdLst/>
              <a:ahLst/>
              <a:cxnLst/>
              <a:rect l="l" t="t" r="r" b="b"/>
              <a:pathLst>
                <a:path w="6766560" h="1280160">
                  <a:moveTo>
                    <a:pt x="0" y="0"/>
                  </a:moveTo>
                  <a:lnTo>
                    <a:pt x="6766560" y="0"/>
                  </a:lnTo>
                  <a:lnTo>
                    <a:pt x="6766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92" b="-529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67665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Version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BBCCD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Control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932920" y="7132320"/>
            <a:ext cx="5074920" cy="1508760"/>
            <a:chOff x="0" y="0"/>
            <a:chExt cx="6766560" cy="20116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766560" cy="2011680"/>
            </a:xfrm>
            <a:custGeom>
              <a:avLst/>
              <a:gdLst/>
              <a:ahLst/>
              <a:cxnLst/>
              <a:rect l="l" t="t" r="r" b="b"/>
              <a:pathLst>
                <a:path w="6766560" h="201168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40" b="-155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676656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Git &amp; GitHub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22B6CA0-A592-4B1D-00EB-27A19093F1B1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666465B-DAB2-E639-C36E-FF6489438295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412214DF-398C-6846-C29B-CFE51BD6B213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10167747"/>
            <a:ext cx="18261330" cy="128778"/>
            <a:chOff x="0" y="0"/>
            <a:chExt cx="24348440" cy="171704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2494240" cy="1539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79"/>
                </a:lnSpc>
              </a:pPr>
              <a:r>
                <a:rPr lang="en-US" sz="38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 Features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144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39"/>
                </a:lnSpc>
              </a:pPr>
              <a:r>
                <a:rPr lang="en-US" sz="1949">
                  <a:solidFill>
                    <a:srgbClr val="8890A8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24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9115" y="2253615"/>
            <a:ext cx="5414060" cy="6671310"/>
            <a:chOff x="0" y="0"/>
            <a:chExt cx="7218746" cy="889508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7218746" cy="4231640"/>
              <a:chOff x="0" y="0"/>
              <a:chExt cx="7218746" cy="42316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622" y="12700"/>
                <a:ext cx="7201502" cy="4206240"/>
              </a:xfrm>
              <a:custGeom>
                <a:avLst/>
                <a:gdLst/>
                <a:ahLst/>
                <a:cxnLst/>
                <a:rect l="l" t="t" r="r" b="b"/>
                <a:pathLst>
                  <a:path w="7201502" h="4206240">
                    <a:moveTo>
                      <a:pt x="0" y="0"/>
                    </a:moveTo>
                    <a:lnTo>
                      <a:pt x="7201502" y="0"/>
                    </a:lnTo>
                    <a:lnTo>
                      <a:pt x="7201502" y="4206240"/>
                    </a:lnTo>
                    <a:lnTo>
                      <a:pt x="0" y="4206240"/>
                    </a:lnTo>
                    <a:close/>
                  </a:path>
                </a:pathLst>
              </a:custGeom>
              <a:solidFill>
                <a:srgbClr val="F0F2F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0" y="0"/>
                <a:ext cx="7218746" cy="4231640"/>
              </a:xfrm>
              <a:custGeom>
                <a:avLst/>
                <a:gdLst/>
                <a:ahLst/>
                <a:cxnLst/>
                <a:rect l="l" t="t" r="r" b="b"/>
                <a:pathLst>
                  <a:path w="7218746" h="4231640">
                    <a:moveTo>
                      <a:pt x="8622" y="0"/>
                    </a:moveTo>
                    <a:lnTo>
                      <a:pt x="7210124" y="0"/>
                    </a:lnTo>
                    <a:cubicBezTo>
                      <a:pt x="7214867" y="0"/>
                      <a:pt x="7218746" y="5715"/>
                      <a:pt x="7218746" y="12700"/>
                    </a:cubicBezTo>
                    <a:lnTo>
                      <a:pt x="7218746" y="4218940"/>
                    </a:lnTo>
                    <a:cubicBezTo>
                      <a:pt x="7218746" y="4225925"/>
                      <a:pt x="7214867" y="4231640"/>
                      <a:pt x="7210124" y="4231640"/>
                    </a:cubicBezTo>
                    <a:lnTo>
                      <a:pt x="8622" y="4231640"/>
                    </a:lnTo>
                    <a:cubicBezTo>
                      <a:pt x="3880" y="4231640"/>
                      <a:pt x="0" y="4225925"/>
                      <a:pt x="0" y="4218940"/>
                    </a:cubicBezTo>
                    <a:lnTo>
                      <a:pt x="0" y="12700"/>
                    </a:lnTo>
                    <a:cubicBezTo>
                      <a:pt x="0" y="5715"/>
                      <a:pt x="3880" y="0"/>
                      <a:pt x="8622" y="0"/>
                    </a:cubicBezTo>
                    <a:moveTo>
                      <a:pt x="8622" y="25400"/>
                    </a:moveTo>
                    <a:lnTo>
                      <a:pt x="8622" y="12700"/>
                    </a:lnTo>
                    <a:lnTo>
                      <a:pt x="17245" y="12700"/>
                    </a:lnTo>
                    <a:lnTo>
                      <a:pt x="17245" y="4218940"/>
                    </a:lnTo>
                    <a:lnTo>
                      <a:pt x="8622" y="4218940"/>
                    </a:lnTo>
                    <a:lnTo>
                      <a:pt x="8622" y="4206240"/>
                    </a:lnTo>
                    <a:lnTo>
                      <a:pt x="7210124" y="4206240"/>
                    </a:lnTo>
                    <a:lnTo>
                      <a:pt x="7210124" y="4218940"/>
                    </a:lnTo>
                    <a:lnTo>
                      <a:pt x="7201502" y="4218940"/>
                    </a:lnTo>
                    <a:lnTo>
                      <a:pt x="7201502" y="12700"/>
                    </a:lnTo>
                    <a:lnTo>
                      <a:pt x="7210124" y="12700"/>
                    </a:lnTo>
                    <a:lnTo>
                      <a:pt x="7210124" y="25400"/>
                    </a:lnTo>
                    <a:lnTo>
                      <a:pt x="8622" y="25400"/>
                    </a:lnTo>
                    <a:close/>
                  </a:path>
                </a:pathLst>
              </a:custGeom>
              <a:solidFill>
                <a:srgbClr val="D6E4F7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7218746" cy="976376"/>
              <a:chOff x="0" y="0"/>
              <a:chExt cx="7218746" cy="9763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622" y="12700"/>
                <a:ext cx="7201502" cy="950976"/>
              </a:xfrm>
              <a:custGeom>
                <a:avLst/>
                <a:gdLst/>
                <a:ahLst/>
                <a:cxnLst/>
                <a:rect l="l" t="t" r="r" b="b"/>
                <a:pathLst>
                  <a:path w="7201502" h="950976">
                    <a:moveTo>
                      <a:pt x="0" y="0"/>
                    </a:moveTo>
                    <a:lnTo>
                      <a:pt x="7201502" y="0"/>
                    </a:lnTo>
                    <a:lnTo>
                      <a:pt x="7201502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solidFill>
                <a:srgbClr val="1B2D5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0" y="0"/>
                <a:ext cx="7218746" cy="976376"/>
              </a:xfrm>
              <a:custGeom>
                <a:avLst/>
                <a:gdLst/>
                <a:ahLst/>
                <a:cxnLst/>
                <a:rect l="l" t="t" r="r" b="b"/>
                <a:pathLst>
                  <a:path w="7218746" h="976376">
                    <a:moveTo>
                      <a:pt x="8622" y="0"/>
                    </a:moveTo>
                    <a:lnTo>
                      <a:pt x="7210124" y="0"/>
                    </a:lnTo>
                    <a:cubicBezTo>
                      <a:pt x="7214867" y="0"/>
                      <a:pt x="7218746" y="5715"/>
                      <a:pt x="7218746" y="12700"/>
                    </a:cubicBezTo>
                    <a:lnTo>
                      <a:pt x="7218746" y="963676"/>
                    </a:lnTo>
                    <a:cubicBezTo>
                      <a:pt x="7218746" y="970661"/>
                      <a:pt x="7214867" y="976376"/>
                      <a:pt x="7210124" y="976376"/>
                    </a:cubicBezTo>
                    <a:lnTo>
                      <a:pt x="8622" y="976376"/>
                    </a:lnTo>
                    <a:cubicBezTo>
                      <a:pt x="3880" y="976376"/>
                      <a:pt x="0" y="970661"/>
                      <a:pt x="0" y="963676"/>
                    </a:cubicBezTo>
                    <a:lnTo>
                      <a:pt x="0" y="12700"/>
                    </a:lnTo>
                    <a:cubicBezTo>
                      <a:pt x="0" y="5715"/>
                      <a:pt x="3880" y="0"/>
                      <a:pt x="8622" y="0"/>
                    </a:cubicBezTo>
                    <a:moveTo>
                      <a:pt x="8622" y="25400"/>
                    </a:moveTo>
                    <a:lnTo>
                      <a:pt x="8622" y="12700"/>
                    </a:lnTo>
                    <a:lnTo>
                      <a:pt x="17245" y="12700"/>
                    </a:lnTo>
                    <a:lnTo>
                      <a:pt x="17245" y="963676"/>
                    </a:lnTo>
                    <a:lnTo>
                      <a:pt x="8622" y="963676"/>
                    </a:lnTo>
                    <a:lnTo>
                      <a:pt x="8622" y="950976"/>
                    </a:lnTo>
                    <a:lnTo>
                      <a:pt x="7210124" y="950976"/>
                    </a:lnTo>
                    <a:lnTo>
                      <a:pt x="7210124" y="963676"/>
                    </a:lnTo>
                    <a:lnTo>
                      <a:pt x="7201502" y="963676"/>
                    </a:lnTo>
                    <a:lnTo>
                      <a:pt x="7201502" y="12700"/>
                    </a:lnTo>
                    <a:lnTo>
                      <a:pt x="7210124" y="12700"/>
                    </a:lnTo>
                    <a:lnTo>
                      <a:pt x="7210124" y="25400"/>
                    </a:lnTo>
                    <a:lnTo>
                      <a:pt x="8622" y="25400"/>
                    </a:lnTo>
                    <a:close/>
                  </a:path>
                </a:pathLst>
              </a:custGeom>
              <a:solidFill>
                <a:srgbClr val="1B2D5E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87020" y="12700"/>
              <a:ext cx="6931726" cy="950976"/>
              <a:chOff x="0" y="0"/>
              <a:chExt cx="6931726" cy="95097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931727" cy="950976"/>
              </a:xfrm>
              <a:custGeom>
                <a:avLst/>
                <a:gdLst/>
                <a:ahLst/>
                <a:cxnLst/>
                <a:rect l="l" t="t" r="r" b="b"/>
                <a:pathLst>
                  <a:path w="6931727" h="950976">
                    <a:moveTo>
                      <a:pt x="0" y="0"/>
                    </a:moveTo>
                    <a:lnTo>
                      <a:pt x="6931727" y="0"/>
                    </a:lnTo>
                    <a:lnTo>
                      <a:pt x="6931727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6091" r="-45106" b="-15609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6931726" cy="99860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AI Symptom Analysis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08940" y="1475401"/>
              <a:ext cx="5435065" cy="207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1C1C3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Gemini 2.5 Flash analyzes complex symptom combinations and correlates them with potential diagnoses using clinical knowledge.</a:t>
              </a:r>
            </a:p>
            <a:p>
              <a:pPr algn="l">
                <a:lnSpc>
                  <a:spcPts val="2423"/>
                </a:lnSpc>
              </a:pPr>
              <a:endParaRPr lang="en-US" sz="20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0" y="4663440"/>
              <a:ext cx="7218746" cy="4231640"/>
              <a:chOff x="0" y="0"/>
              <a:chExt cx="7218746" cy="423164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22" y="12700"/>
                <a:ext cx="7201502" cy="4206240"/>
              </a:xfrm>
              <a:custGeom>
                <a:avLst/>
                <a:gdLst/>
                <a:ahLst/>
                <a:cxnLst/>
                <a:rect l="l" t="t" r="r" b="b"/>
                <a:pathLst>
                  <a:path w="7201502" h="4206240">
                    <a:moveTo>
                      <a:pt x="0" y="0"/>
                    </a:moveTo>
                    <a:lnTo>
                      <a:pt x="7201502" y="0"/>
                    </a:lnTo>
                    <a:lnTo>
                      <a:pt x="7201502" y="4206240"/>
                    </a:lnTo>
                    <a:lnTo>
                      <a:pt x="0" y="4206240"/>
                    </a:lnTo>
                    <a:close/>
                  </a:path>
                </a:pathLst>
              </a:custGeom>
              <a:solidFill>
                <a:srgbClr val="F0F2F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0" y="0"/>
                <a:ext cx="7218746" cy="4231640"/>
              </a:xfrm>
              <a:custGeom>
                <a:avLst/>
                <a:gdLst/>
                <a:ahLst/>
                <a:cxnLst/>
                <a:rect l="l" t="t" r="r" b="b"/>
                <a:pathLst>
                  <a:path w="7218746" h="4231640">
                    <a:moveTo>
                      <a:pt x="8622" y="0"/>
                    </a:moveTo>
                    <a:lnTo>
                      <a:pt x="7210124" y="0"/>
                    </a:lnTo>
                    <a:cubicBezTo>
                      <a:pt x="7214867" y="0"/>
                      <a:pt x="7218746" y="5715"/>
                      <a:pt x="7218746" y="12700"/>
                    </a:cubicBezTo>
                    <a:lnTo>
                      <a:pt x="7218746" y="4218940"/>
                    </a:lnTo>
                    <a:cubicBezTo>
                      <a:pt x="7218746" y="4225925"/>
                      <a:pt x="7214867" y="4231640"/>
                      <a:pt x="7210124" y="4231640"/>
                    </a:cubicBezTo>
                    <a:lnTo>
                      <a:pt x="8622" y="4231640"/>
                    </a:lnTo>
                    <a:cubicBezTo>
                      <a:pt x="3880" y="4231640"/>
                      <a:pt x="0" y="4225925"/>
                      <a:pt x="0" y="4218940"/>
                    </a:cubicBezTo>
                    <a:lnTo>
                      <a:pt x="0" y="12700"/>
                    </a:lnTo>
                    <a:cubicBezTo>
                      <a:pt x="0" y="5715"/>
                      <a:pt x="3880" y="0"/>
                      <a:pt x="8622" y="0"/>
                    </a:cubicBezTo>
                    <a:moveTo>
                      <a:pt x="8622" y="25400"/>
                    </a:moveTo>
                    <a:lnTo>
                      <a:pt x="8622" y="12700"/>
                    </a:lnTo>
                    <a:lnTo>
                      <a:pt x="17245" y="12700"/>
                    </a:lnTo>
                    <a:lnTo>
                      <a:pt x="17245" y="4218940"/>
                    </a:lnTo>
                    <a:lnTo>
                      <a:pt x="8622" y="4218940"/>
                    </a:lnTo>
                    <a:lnTo>
                      <a:pt x="8622" y="4206240"/>
                    </a:lnTo>
                    <a:lnTo>
                      <a:pt x="7210124" y="4206240"/>
                    </a:lnTo>
                    <a:lnTo>
                      <a:pt x="7210124" y="4218940"/>
                    </a:lnTo>
                    <a:lnTo>
                      <a:pt x="7201502" y="4218940"/>
                    </a:lnTo>
                    <a:lnTo>
                      <a:pt x="7201502" y="12700"/>
                    </a:lnTo>
                    <a:lnTo>
                      <a:pt x="7210124" y="12700"/>
                    </a:lnTo>
                    <a:lnTo>
                      <a:pt x="7210124" y="25400"/>
                    </a:lnTo>
                    <a:lnTo>
                      <a:pt x="8622" y="25400"/>
                    </a:lnTo>
                    <a:close/>
                  </a:path>
                </a:pathLst>
              </a:custGeom>
              <a:solidFill>
                <a:srgbClr val="D6E4F7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4663440"/>
              <a:ext cx="7218746" cy="976376"/>
              <a:chOff x="0" y="0"/>
              <a:chExt cx="7218746" cy="9763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622" y="12700"/>
                <a:ext cx="7201502" cy="950976"/>
              </a:xfrm>
              <a:custGeom>
                <a:avLst/>
                <a:gdLst/>
                <a:ahLst/>
                <a:cxnLst/>
                <a:rect l="l" t="t" r="r" b="b"/>
                <a:pathLst>
                  <a:path w="7201502" h="950976">
                    <a:moveTo>
                      <a:pt x="0" y="0"/>
                    </a:moveTo>
                    <a:lnTo>
                      <a:pt x="7201502" y="0"/>
                    </a:lnTo>
                    <a:lnTo>
                      <a:pt x="7201502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solidFill>
                <a:srgbClr val="1E7D5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0" y="0"/>
                <a:ext cx="7218746" cy="976376"/>
              </a:xfrm>
              <a:custGeom>
                <a:avLst/>
                <a:gdLst/>
                <a:ahLst/>
                <a:cxnLst/>
                <a:rect l="l" t="t" r="r" b="b"/>
                <a:pathLst>
                  <a:path w="7218746" h="976376">
                    <a:moveTo>
                      <a:pt x="8622" y="0"/>
                    </a:moveTo>
                    <a:lnTo>
                      <a:pt x="7210124" y="0"/>
                    </a:lnTo>
                    <a:cubicBezTo>
                      <a:pt x="7214867" y="0"/>
                      <a:pt x="7218746" y="5715"/>
                      <a:pt x="7218746" y="12700"/>
                    </a:cubicBezTo>
                    <a:lnTo>
                      <a:pt x="7218746" y="963676"/>
                    </a:lnTo>
                    <a:cubicBezTo>
                      <a:pt x="7218746" y="970661"/>
                      <a:pt x="7214867" y="976376"/>
                      <a:pt x="7210124" y="976376"/>
                    </a:cubicBezTo>
                    <a:lnTo>
                      <a:pt x="8622" y="976376"/>
                    </a:lnTo>
                    <a:cubicBezTo>
                      <a:pt x="3880" y="976376"/>
                      <a:pt x="0" y="970661"/>
                      <a:pt x="0" y="963676"/>
                    </a:cubicBezTo>
                    <a:lnTo>
                      <a:pt x="0" y="12700"/>
                    </a:lnTo>
                    <a:cubicBezTo>
                      <a:pt x="0" y="5715"/>
                      <a:pt x="3880" y="0"/>
                      <a:pt x="8622" y="0"/>
                    </a:cubicBezTo>
                    <a:moveTo>
                      <a:pt x="8622" y="25400"/>
                    </a:moveTo>
                    <a:lnTo>
                      <a:pt x="8622" y="12700"/>
                    </a:lnTo>
                    <a:lnTo>
                      <a:pt x="17245" y="12700"/>
                    </a:lnTo>
                    <a:lnTo>
                      <a:pt x="17245" y="963676"/>
                    </a:lnTo>
                    <a:lnTo>
                      <a:pt x="8622" y="963676"/>
                    </a:lnTo>
                    <a:lnTo>
                      <a:pt x="8622" y="950976"/>
                    </a:lnTo>
                    <a:lnTo>
                      <a:pt x="7210124" y="950976"/>
                    </a:lnTo>
                    <a:lnTo>
                      <a:pt x="7210124" y="963676"/>
                    </a:lnTo>
                    <a:lnTo>
                      <a:pt x="7201502" y="963676"/>
                    </a:lnTo>
                    <a:lnTo>
                      <a:pt x="7201502" y="12700"/>
                    </a:lnTo>
                    <a:lnTo>
                      <a:pt x="7210124" y="12700"/>
                    </a:lnTo>
                    <a:lnTo>
                      <a:pt x="7210124" y="25400"/>
                    </a:lnTo>
                    <a:lnTo>
                      <a:pt x="8622" y="25400"/>
                    </a:lnTo>
                    <a:close/>
                  </a:path>
                </a:pathLst>
              </a:custGeom>
              <a:solidFill>
                <a:srgbClr val="1E7D54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87020" y="4676140"/>
              <a:ext cx="6931726" cy="950976"/>
              <a:chOff x="0" y="0"/>
              <a:chExt cx="6931726" cy="95097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931727" cy="950976"/>
              </a:xfrm>
              <a:custGeom>
                <a:avLst/>
                <a:gdLst/>
                <a:ahLst/>
                <a:cxnLst/>
                <a:rect l="l" t="t" r="r" b="b"/>
                <a:pathLst>
                  <a:path w="6931727" h="950976">
                    <a:moveTo>
                      <a:pt x="0" y="0"/>
                    </a:moveTo>
                    <a:lnTo>
                      <a:pt x="6931727" y="0"/>
                    </a:lnTo>
                    <a:lnTo>
                      <a:pt x="6931727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6091" r="-45106" b="-15609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6931726" cy="99860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Glassmorphism UI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408940" y="6036691"/>
              <a:ext cx="4907122" cy="196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2019">
                  <a:solidFill>
                    <a:srgbClr val="1C1C3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Modern, visually appealing interface with frosted glass effects providing a premium healthcare experience.</a:t>
              </a:r>
            </a:p>
            <a:p>
              <a:pPr algn="l">
                <a:lnSpc>
                  <a:spcPts val="1785"/>
                </a:lnSpc>
              </a:pPr>
              <a:endParaRPr lang="en-US" sz="20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14110" y="2253615"/>
            <a:ext cx="5414060" cy="3173730"/>
            <a:chOff x="0" y="0"/>
            <a:chExt cx="7218746" cy="4231640"/>
          </a:xfrm>
        </p:grpSpPr>
        <p:sp>
          <p:nvSpPr>
            <p:cNvPr id="39" name="Freeform 39"/>
            <p:cNvSpPr/>
            <p:nvPr/>
          </p:nvSpPr>
          <p:spPr>
            <a:xfrm>
              <a:off x="8622" y="12700"/>
              <a:ext cx="7201502" cy="4206240"/>
            </a:xfrm>
            <a:custGeom>
              <a:avLst/>
              <a:gdLst/>
              <a:ahLst/>
              <a:cxnLst/>
              <a:rect l="l" t="t" r="r" b="b"/>
              <a:pathLst>
                <a:path w="7201502" h="4206240">
                  <a:moveTo>
                    <a:pt x="0" y="0"/>
                  </a:moveTo>
                  <a:lnTo>
                    <a:pt x="7201502" y="0"/>
                  </a:lnTo>
                  <a:lnTo>
                    <a:pt x="7201502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7218746" cy="4231640"/>
            </a:xfrm>
            <a:custGeom>
              <a:avLst/>
              <a:gdLst/>
              <a:ahLst/>
              <a:cxnLst/>
              <a:rect l="l" t="t" r="r" b="b"/>
              <a:pathLst>
                <a:path w="7218746" h="4231640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4218940"/>
                  </a:lnTo>
                  <a:cubicBezTo>
                    <a:pt x="7218746" y="4225925"/>
                    <a:pt x="7214867" y="4231640"/>
                    <a:pt x="7210124" y="4231640"/>
                  </a:cubicBezTo>
                  <a:lnTo>
                    <a:pt x="8622" y="4231640"/>
                  </a:lnTo>
                  <a:cubicBezTo>
                    <a:pt x="3880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4218940"/>
                  </a:lnTo>
                  <a:lnTo>
                    <a:pt x="8622" y="4218940"/>
                  </a:lnTo>
                  <a:lnTo>
                    <a:pt x="8622" y="4206240"/>
                  </a:lnTo>
                  <a:lnTo>
                    <a:pt x="7210124" y="4206240"/>
                  </a:lnTo>
                  <a:lnTo>
                    <a:pt x="7210124" y="4218940"/>
                  </a:lnTo>
                  <a:lnTo>
                    <a:pt x="7201502" y="4218940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14110" y="2253615"/>
            <a:ext cx="5414060" cy="732282"/>
            <a:chOff x="0" y="0"/>
            <a:chExt cx="7218746" cy="976376"/>
          </a:xfrm>
        </p:grpSpPr>
        <p:sp>
          <p:nvSpPr>
            <p:cNvPr id="42" name="Freeform 42"/>
            <p:cNvSpPr/>
            <p:nvPr/>
          </p:nvSpPr>
          <p:spPr>
            <a:xfrm>
              <a:off x="8622" y="12700"/>
              <a:ext cx="7201502" cy="950976"/>
            </a:xfrm>
            <a:custGeom>
              <a:avLst/>
              <a:gdLst/>
              <a:ahLst/>
              <a:cxnLst/>
              <a:rect l="l" t="t" r="r" b="b"/>
              <a:pathLst>
                <a:path w="7201502" h="950976">
                  <a:moveTo>
                    <a:pt x="0" y="0"/>
                  </a:moveTo>
                  <a:lnTo>
                    <a:pt x="7201502" y="0"/>
                  </a:lnTo>
                  <a:lnTo>
                    <a:pt x="7201502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7218746" cy="976376"/>
            </a:xfrm>
            <a:custGeom>
              <a:avLst/>
              <a:gdLst/>
              <a:ahLst/>
              <a:cxnLst/>
              <a:rect l="l" t="t" r="r" b="b"/>
              <a:pathLst>
                <a:path w="7218746" h="976376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963676"/>
                  </a:lnTo>
                  <a:cubicBezTo>
                    <a:pt x="7218746" y="970661"/>
                    <a:pt x="7214867" y="976376"/>
                    <a:pt x="7210124" y="976376"/>
                  </a:cubicBezTo>
                  <a:lnTo>
                    <a:pt x="8622" y="976376"/>
                  </a:lnTo>
                  <a:cubicBezTo>
                    <a:pt x="3880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963676"/>
                  </a:lnTo>
                  <a:lnTo>
                    <a:pt x="8622" y="963676"/>
                  </a:lnTo>
                  <a:lnTo>
                    <a:pt x="8622" y="950976"/>
                  </a:lnTo>
                  <a:lnTo>
                    <a:pt x="7210124" y="950976"/>
                  </a:lnTo>
                  <a:lnTo>
                    <a:pt x="7210124" y="963676"/>
                  </a:lnTo>
                  <a:lnTo>
                    <a:pt x="7201502" y="963676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629375" y="2253615"/>
            <a:ext cx="5198795" cy="713232"/>
            <a:chOff x="0" y="0"/>
            <a:chExt cx="6931726" cy="9509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31727" cy="950976"/>
            </a:xfrm>
            <a:custGeom>
              <a:avLst/>
              <a:gdLst/>
              <a:ahLst/>
              <a:cxnLst/>
              <a:rect l="l" t="t" r="r" b="b"/>
              <a:pathLst>
                <a:path w="6931727" h="950976">
                  <a:moveTo>
                    <a:pt x="0" y="0"/>
                  </a:moveTo>
                  <a:lnTo>
                    <a:pt x="6931727" y="0"/>
                  </a:lnTo>
                  <a:lnTo>
                    <a:pt x="693172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091" r="-45106" b="-15609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6931726" cy="998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Clinical Report Generation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857809" y="3365864"/>
            <a:ext cx="4252342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Automatically produces structured, professional clinical reports ready for documentation and review.</a:t>
            </a:r>
          </a:p>
          <a:p>
            <a:pPr algn="l">
              <a:lnSpc>
                <a:spcPts val="2423"/>
              </a:lnSpc>
            </a:pPr>
            <a:endParaRPr lang="en-US" sz="2019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414110" y="5751195"/>
            <a:ext cx="5414060" cy="3173730"/>
            <a:chOff x="0" y="0"/>
            <a:chExt cx="7218746" cy="4231640"/>
          </a:xfrm>
        </p:grpSpPr>
        <p:sp>
          <p:nvSpPr>
            <p:cNvPr id="49" name="Freeform 49"/>
            <p:cNvSpPr/>
            <p:nvPr/>
          </p:nvSpPr>
          <p:spPr>
            <a:xfrm>
              <a:off x="8622" y="12700"/>
              <a:ext cx="7201502" cy="4206240"/>
            </a:xfrm>
            <a:custGeom>
              <a:avLst/>
              <a:gdLst/>
              <a:ahLst/>
              <a:cxnLst/>
              <a:rect l="l" t="t" r="r" b="b"/>
              <a:pathLst>
                <a:path w="7201502" h="4206240">
                  <a:moveTo>
                    <a:pt x="0" y="0"/>
                  </a:moveTo>
                  <a:lnTo>
                    <a:pt x="7201502" y="0"/>
                  </a:lnTo>
                  <a:lnTo>
                    <a:pt x="7201502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7218746" cy="4231640"/>
            </a:xfrm>
            <a:custGeom>
              <a:avLst/>
              <a:gdLst/>
              <a:ahLst/>
              <a:cxnLst/>
              <a:rect l="l" t="t" r="r" b="b"/>
              <a:pathLst>
                <a:path w="7218746" h="4231640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4218940"/>
                  </a:lnTo>
                  <a:cubicBezTo>
                    <a:pt x="7218746" y="4225925"/>
                    <a:pt x="7214867" y="4231640"/>
                    <a:pt x="7210124" y="4231640"/>
                  </a:cubicBezTo>
                  <a:lnTo>
                    <a:pt x="8622" y="4231640"/>
                  </a:lnTo>
                  <a:cubicBezTo>
                    <a:pt x="3880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4218940"/>
                  </a:lnTo>
                  <a:lnTo>
                    <a:pt x="8622" y="4218940"/>
                  </a:lnTo>
                  <a:lnTo>
                    <a:pt x="8622" y="4206240"/>
                  </a:lnTo>
                  <a:lnTo>
                    <a:pt x="7210124" y="4206240"/>
                  </a:lnTo>
                  <a:lnTo>
                    <a:pt x="7210124" y="4218940"/>
                  </a:lnTo>
                  <a:lnTo>
                    <a:pt x="7201502" y="4218940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14110" y="5751195"/>
            <a:ext cx="5414060" cy="732282"/>
            <a:chOff x="0" y="0"/>
            <a:chExt cx="7218746" cy="976376"/>
          </a:xfrm>
        </p:grpSpPr>
        <p:sp>
          <p:nvSpPr>
            <p:cNvPr id="52" name="Freeform 52"/>
            <p:cNvSpPr/>
            <p:nvPr/>
          </p:nvSpPr>
          <p:spPr>
            <a:xfrm>
              <a:off x="8622" y="12700"/>
              <a:ext cx="7201502" cy="950976"/>
            </a:xfrm>
            <a:custGeom>
              <a:avLst/>
              <a:gdLst/>
              <a:ahLst/>
              <a:cxnLst/>
              <a:rect l="l" t="t" r="r" b="b"/>
              <a:pathLst>
                <a:path w="7201502" h="950976">
                  <a:moveTo>
                    <a:pt x="0" y="0"/>
                  </a:moveTo>
                  <a:lnTo>
                    <a:pt x="7201502" y="0"/>
                  </a:lnTo>
                  <a:lnTo>
                    <a:pt x="7201502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4A4A6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0" y="0"/>
              <a:ext cx="7218746" cy="976376"/>
            </a:xfrm>
            <a:custGeom>
              <a:avLst/>
              <a:gdLst/>
              <a:ahLst/>
              <a:cxnLst/>
              <a:rect l="l" t="t" r="r" b="b"/>
              <a:pathLst>
                <a:path w="7218746" h="976376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963676"/>
                  </a:lnTo>
                  <a:cubicBezTo>
                    <a:pt x="7218746" y="970661"/>
                    <a:pt x="7214867" y="976376"/>
                    <a:pt x="7210124" y="976376"/>
                  </a:cubicBezTo>
                  <a:lnTo>
                    <a:pt x="8622" y="976376"/>
                  </a:lnTo>
                  <a:cubicBezTo>
                    <a:pt x="3880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963676"/>
                  </a:lnTo>
                  <a:lnTo>
                    <a:pt x="8622" y="963676"/>
                  </a:lnTo>
                  <a:lnTo>
                    <a:pt x="8622" y="950976"/>
                  </a:lnTo>
                  <a:lnTo>
                    <a:pt x="7210124" y="950976"/>
                  </a:lnTo>
                  <a:lnTo>
                    <a:pt x="7210124" y="963676"/>
                  </a:lnTo>
                  <a:lnTo>
                    <a:pt x="7201502" y="963676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629375" y="5813679"/>
            <a:ext cx="5198795" cy="713232"/>
            <a:chOff x="0" y="0"/>
            <a:chExt cx="6931726" cy="95097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931727" cy="950976"/>
            </a:xfrm>
            <a:custGeom>
              <a:avLst/>
              <a:gdLst/>
              <a:ahLst/>
              <a:cxnLst/>
              <a:rect l="l" t="t" r="r" b="b"/>
              <a:pathLst>
                <a:path w="6931727" h="950976">
                  <a:moveTo>
                    <a:pt x="0" y="0"/>
                  </a:moveTo>
                  <a:lnTo>
                    <a:pt x="6931727" y="0"/>
                  </a:lnTo>
                  <a:lnTo>
                    <a:pt x="693172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091" r="-45106" b="-15609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6931726" cy="998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Secure API Handling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6721306" y="6693599"/>
            <a:ext cx="4525348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[e.g., Pruned architAPI key is stored server-side in .env, never exposed to the browser for security best practices.</a:t>
            </a:r>
          </a:p>
          <a:p>
            <a:pPr algn="l">
              <a:lnSpc>
                <a:spcPts val="2423"/>
              </a:lnSpc>
            </a:pPr>
            <a:r>
              <a:rPr lang="en-US" sz="201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cture reduces parameters by XX% while maintaining accuracy — suitable for edge deployment.]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285370" y="2253615"/>
            <a:ext cx="5414060" cy="3173730"/>
            <a:chOff x="0" y="0"/>
            <a:chExt cx="7218746" cy="4231640"/>
          </a:xfrm>
        </p:grpSpPr>
        <p:sp>
          <p:nvSpPr>
            <p:cNvPr id="59" name="Freeform 59"/>
            <p:cNvSpPr/>
            <p:nvPr/>
          </p:nvSpPr>
          <p:spPr>
            <a:xfrm>
              <a:off x="8622" y="12700"/>
              <a:ext cx="7201502" cy="4206240"/>
            </a:xfrm>
            <a:custGeom>
              <a:avLst/>
              <a:gdLst/>
              <a:ahLst/>
              <a:cxnLst/>
              <a:rect l="l" t="t" r="r" b="b"/>
              <a:pathLst>
                <a:path w="7201502" h="4206240">
                  <a:moveTo>
                    <a:pt x="0" y="0"/>
                  </a:moveTo>
                  <a:lnTo>
                    <a:pt x="7201502" y="0"/>
                  </a:lnTo>
                  <a:lnTo>
                    <a:pt x="7201502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0"/>
              <a:ext cx="7218746" cy="4231640"/>
            </a:xfrm>
            <a:custGeom>
              <a:avLst/>
              <a:gdLst/>
              <a:ahLst/>
              <a:cxnLst/>
              <a:rect l="l" t="t" r="r" b="b"/>
              <a:pathLst>
                <a:path w="7218746" h="4231640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4218940"/>
                  </a:lnTo>
                  <a:cubicBezTo>
                    <a:pt x="7218746" y="4225925"/>
                    <a:pt x="7214867" y="4231640"/>
                    <a:pt x="7210124" y="4231640"/>
                  </a:cubicBezTo>
                  <a:lnTo>
                    <a:pt x="8622" y="4231640"/>
                  </a:lnTo>
                  <a:cubicBezTo>
                    <a:pt x="3880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4218940"/>
                  </a:lnTo>
                  <a:lnTo>
                    <a:pt x="8622" y="4218940"/>
                  </a:lnTo>
                  <a:lnTo>
                    <a:pt x="8622" y="4206240"/>
                  </a:lnTo>
                  <a:lnTo>
                    <a:pt x="7210124" y="4206240"/>
                  </a:lnTo>
                  <a:lnTo>
                    <a:pt x="7210124" y="4218940"/>
                  </a:lnTo>
                  <a:lnTo>
                    <a:pt x="7201502" y="4218940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285370" y="2253615"/>
            <a:ext cx="5414060" cy="732282"/>
            <a:chOff x="0" y="0"/>
            <a:chExt cx="7218746" cy="976376"/>
          </a:xfrm>
        </p:grpSpPr>
        <p:sp>
          <p:nvSpPr>
            <p:cNvPr id="62" name="Freeform 62"/>
            <p:cNvSpPr/>
            <p:nvPr/>
          </p:nvSpPr>
          <p:spPr>
            <a:xfrm>
              <a:off x="8622" y="12700"/>
              <a:ext cx="7201502" cy="950976"/>
            </a:xfrm>
            <a:custGeom>
              <a:avLst/>
              <a:gdLst/>
              <a:ahLst/>
              <a:cxnLst/>
              <a:rect l="l" t="t" r="r" b="b"/>
              <a:pathLst>
                <a:path w="7201502" h="950976">
                  <a:moveTo>
                    <a:pt x="0" y="0"/>
                  </a:moveTo>
                  <a:lnTo>
                    <a:pt x="7201502" y="0"/>
                  </a:lnTo>
                  <a:lnTo>
                    <a:pt x="7201502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B850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0" y="0"/>
              <a:ext cx="7218746" cy="976376"/>
            </a:xfrm>
            <a:custGeom>
              <a:avLst/>
              <a:gdLst/>
              <a:ahLst/>
              <a:cxnLst/>
              <a:rect l="l" t="t" r="r" b="b"/>
              <a:pathLst>
                <a:path w="7218746" h="976376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963676"/>
                  </a:lnTo>
                  <a:cubicBezTo>
                    <a:pt x="7218746" y="970661"/>
                    <a:pt x="7214867" y="976376"/>
                    <a:pt x="7210124" y="976376"/>
                  </a:cubicBezTo>
                  <a:lnTo>
                    <a:pt x="8622" y="976376"/>
                  </a:lnTo>
                  <a:cubicBezTo>
                    <a:pt x="3880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963676"/>
                  </a:lnTo>
                  <a:lnTo>
                    <a:pt x="8622" y="963676"/>
                  </a:lnTo>
                  <a:lnTo>
                    <a:pt x="8622" y="950976"/>
                  </a:lnTo>
                  <a:lnTo>
                    <a:pt x="7210124" y="950976"/>
                  </a:lnTo>
                  <a:lnTo>
                    <a:pt x="7210124" y="963676"/>
                  </a:lnTo>
                  <a:lnTo>
                    <a:pt x="7201502" y="963676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500635" y="2376749"/>
            <a:ext cx="5198795" cy="870489"/>
            <a:chOff x="0" y="0"/>
            <a:chExt cx="6931726" cy="116065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931727" cy="1160652"/>
            </a:xfrm>
            <a:custGeom>
              <a:avLst/>
              <a:gdLst/>
              <a:ahLst/>
              <a:cxnLst/>
              <a:rect l="l" t="t" r="r" b="b"/>
              <a:pathLst>
                <a:path w="6931727" h="1160652">
                  <a:moveTo>
                    <a:pt x="0" y="0"/>
                  </a:moveTo>
                  <a:lnTo>
                    <a:pt x="6931727" y="0"/>
                  </a:lnTo>
                  <a:lnTo>
                    <a:pt x="6931727" y="1160652"/>
                  </a:lnTo>
                  <a:lnTo>
                    <a:pt x="0" y="1160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93" r="-45106" b="-10982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6931726" cy="1208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PDF Export</a:t>
              </a:r>
            </a:p>
            <a:p>
              <a:pPr algn="l">
                <a:lnSpc>
                  <a:spcPts val="3059"/>
                </a:lnSpc>
              </a:pPr>
              <a:endParaRPr lang="en-US" sz="254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2892635" y="3375389"/>
            <a:ext cx="4199529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6"/>
              </a:lnSpc>
            </a:pPr>
            <a:r>
              <a:rPr lang="en-US" sz="1905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One-click export of generated clinical reports to PDF format using html2pdf.js for easy sharing.</a:t>
            </a:r>
          </a:p>
          <a:p>
            <a:pPr algn="l">
              <a:lnSpc>
                <a:spcPts val="2423"/>
              </a:lnSpc>
            </a:pPr>
            <a:endParaRPr lang="en-US" sz="1905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12285370" y="5751195"/>
            <a:ext cx="5414060" cy="3173730"/>
            <a:chOff x="0" y="0"/>
            <a:chExt cx="7218746" cy="4231640"/>
          </a:xfrm>
        </p:grpSpPr>
        <p:sp>
          <p:nvSpPr>
            <p:cNvPr id="69" name="Freeform 69"/>
            <p:cNvSpPr/>
            <p:nvPr/>
          </p:nvSpPr>
          <p:spPr>
            <a:xfrm>
              <a:off x="8622" y="12700"/>
              <a:ext cx="7201502" cy="4206240"/>
            </a:xfrm>
            <a:custGeom>
              <a:avLst/>
              <a:gdLst/>
              <a:ahLst/>
              <a:cxnLst/>
              <a:rect l="l" t="t" r="r" b="b"/>
              <a:pathLst>
                <a:path w="7201502" h="4206240">
                  <a:moveTo>
                    <a:pt x="0" y="0"/>
                  </a:moveTo>
                  <a:lnTo>
                    <a:pt x="7201502" y="0"/>
                  </a:lnTo>
                  <a:lnTo>
                    <a:pt x="7201502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7218746" cy="4231640"/>
            </a:xfrm>
            <a:custGeom>
              <a:avLst/>
              <a:gdLst/>
              <a:ahLst/>
              <a:cxnLst/>
              <a:rect l="l" t="t" r="r" b="b"/>
              <a:pathLst>
                <a:path w="7218746" h="4231640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4218940"/>
                  </a:lnTo>
                  <a:cubicBezTo>
                    <a:pt x="7218746" y="4225925"/>
                    <a:pt x="7214867" y="4231640"/>
                    <a:pt x="7210124" y="4231640"/>
                  </a:cubicBezTo>
                  <a:lnTo>
                    <a:pt x="8622" y="4231640"/>
                  </a:lnTo>
                  <a:cubicBezTo>
                    <a:pt x="3880" y="4231640"/>
                    <a:pt x="0" y="4225925"/>
                    <a:pt x="0" y="4218940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4218940"/>
                  </a:lnTo>
                  <a:lnTo>
                    <a:pt x="8622" y="4218940"/>
                  </a:lnTo>
                  <a:lnTo>
                    <a:pt x="8622" y="4206240"/>
                  </a:lnTo>
                  <a:lnTo>
                    <a:pt x="7210124" y="4206240"/>
                  </a:lnTo>
                  <a:lnTo>
                    <a:pt x="7210124" y="4218940"/>
                  </a:lnTo>
                  <a:lnTo>
                    <a:pt x="7201502" y="4218940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285370" y="5751195"/>
            <a:ext cx="5414060" cy="732282"/>
            <a:chOff x="0" y="0"/>
            <a:chExt cx="7218746" cy="976376"/>
          </a:xfrm>
        </p:grpSpPr>
        <p:sp>
          <p:nvSpPr>
            <p:cNvPr id="72" name="Freeform 72"/>
            <p:cNvSpPr/>
            <p:nvPr/>
          </p:nvSpPr>
          <p:spPr>
            <a:xfrm>
              <a:off x="8622" y="12700"/>
              <a:ext cx="7201502" cy="950976"/>
            </a:xfrm>
            <a:custGeom>
              <a:avLst/>
              <a:gdLst/>
              <a:ahLst/>
              <a:cxnLst/>
              <a:rect l="l" t="t" r="r" b="b"/>
              <a:pathLst>
                <a:path w="7201502" h="950976">
                  <a:moveTo>
                    <a:pt x="0" y="0"/>
                  </a:moveTo>
                  <a:lnTo>
                    <a:pt x="7201502" y="0"/>
                  </a:lnTo>
                  <a:lnTo>
                    <a:pt x="7201502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0" y="0"/>
              <a:ext cx="7218746" cy="976376"/>
            </a:xfrm>
            <a:custGeom>
              <a:avLst/>
              <a:gdLst/>
              <a:ahLst/>
              <a:cxnLst/>
              <a:rect l="l" t="t" r="r" b="b"/>
              <a:pathLst>
                <a:path w="7218746" h="976376">
                  <a:moveTo>
                    <a:pt x="8622" y="0"/>
                  </a:moveTo>
                  <a:lnTo>
                    <a:pt x="7210124" y="0"/>
                  </a:lnTo>
                  <a:cubicBezTo>
                    <a:pt x="7214867" y="0"/>
                    <a:pt x="7218746" y="5715"/>
                    <a:pt x="7218746" y="12700"/>
                  </a:cubicBezTo>
                  <a:lnTo>
                    <a:pt x="7218746" y="963676"/>
                  </a:lnTo>
                  <a:cubicBezTo>
                    <a:pt x="7218746" y="970661"/>
                    <a:pt x="7214867" y="976376"/>
                    <a:pt x="7210124" y="976376"/>
                  </a:cubicBezTo>
                  <a:lnTo>
                    <a:pt x="8622" y="976376"/>
                  </a:lnTo>
                  <a:cubicBezTo>
                    <a:pt x="3880" y="976376"/>
                    <a:pt x="0" y="970661"/>
                    <a:pt x="0" y="963676"/>
                  </a:cubicBezTo>
                  <a:lnTo>
                    <a:pt x="0" y="12700"/>
                  </a:lnTo>
                  <a:cubicBezTo>
                    <a:pt x="0" y="5715"/>
                    <a:pt x="3880" y="0"/>
                    <a:pt x="8622" y="0"/>
                  </a:cubicBezTo>
                  <a:moveTo>
                    <a:pt x="8622" y="25400"/>
                  </a:moveTo>
                  <a:lnTo>
                    <a:pt x="8622" y="12700"/>
                  </a:lnTo>
                  <a:lnTo>
                    <a:pt x="17245" y="12700"/>
                  </a:lnTo>
                  <a:lnTo>
                    <a:pt x="17245" y="963676"/>
                  </a:lnTo>
                  <a:lnTo>
                    <a:pt x="8622" y="963676"/>
                  </a:lnTo>
                  <a:lnTo>
                    <a:pt x="8622" y="950976"/>
                  </a:lnTo>
                  <a:lnTo>
                    <a:pt x="7210124" y="950976"/>
                  </a:lnTo>
                  <a:lnTo>
                    <a:pt x="7210124" y="963676"/>
                  </a:lnTo>
                  <a:lnTo>
                    <a:pt x="7201502" y="963676"/>
                  </a:lnTo>
                  <a:lnTo>
                    <a:pt x="7201502" y="12700"/>
                  </a:lnTo>
                  <a:lnTo>
                    <a:pt x="7210124" y="12700"/>
                  </a:lnTo>
                  <a:lnTo>
                    <a:pt x="7210124" y="25400"/>
                  </a:lnTo>
                  <a:lnTo>
                    <a:pt x="8622" y="25400"/>
                  </a:lnTo>
                  <a:close/>
                </a:path>
              </a:pathLst>
            </a:custGeom>
            <a:solidFill>
              <a:srgbClr val="1E7D5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563425" y="5846445"/>
            <a:ext cx="5198795" cy="713232"/>
            <a:chOff x="0" y="0"/>
            <a:chExt cx="6931726" cy="95097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931727" cy="950976"/>
            </a:xfrm>
            <a:custGeom>
              <a:avLst/>
              <a:gdLst/>
              <a:ahLst/>
              <a:cxnLst/>
              <a:rect l="l" t="t" r="r" b="b"/>
              <a:pathLst>
                <a:path w="6931727" h="950976">
                  <a:moveTo>
                    <a:pt x="0" y="0"/>
                  </a:moveTo>
                  <a:lnTo>
                    <a:pt x="6931727" y="0"/>
                  </a:lnTo>
                  <a:lnTo>
                    <a:pt x="693172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091" r="-45106" b="-15609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6931726" cy="998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Real-Time Processing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2500635" y="6835902"/>
            <a:ext cx="4758665" cy="126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Fast LLM inference via Next.js API routes delivers diagnostic insights in seconds, not minutes.</a:t>
            </a:r>
          </a:p>
          <a:p>
            <a:pPr algn="l">
              <a:lnSpc>
                <a:spcPts val="2421"/>
              </a:lnSpc>
            </a:pPr>
            <a:endParaRPr lang="en-US" sz="2017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238E470-C627-8E78-B2AE-C3A6292213FA}"/>
              </a:ext>
            </a:extLst>
          </p:cNvPr>
          <p:cNvGrpSpPr/>
          <p:nvPr/>
        </p:nvGrpSpPr>
        <p:grpSpPr>
          <a:xfrm>
            <a:off x="-59054" y="8724899"/>
            <a:ext cx="18164174" cy="1561195"/>
            <a:chOff x="-59054" y="8724899"/>
            <a:chExt cx="18164174" cy="1561195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D71174A6-4479-F1E8-F7FF-2560748E6550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E40F5D34-8931-F469-C2B8-764738F1108B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10167747"/>
            <a:ext cx="18261330" cy="128778"/>
            <a:chOff x="0" y="0"/>
            <a:chExt cx="24348440" cy="171704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E5FA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525" y="813435"/>
            <a:ext cx="18261330" cy="1184910"/>
            <a:chOff x="0" y="0"/>
            <a:chExt cx="24348440" cy="1579880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24323039" cy="1554480"/>
            </a:xfrm>
            <a:custGeom>
              <a:avLst/>
              <a:gdLst/>
              <a:ahLst/>
              <a:cxnLst/>
              <a:rect l="l" t="t" r="r" b="b"/>
              <a:pathLst>
                <a:path w="24323039" h="1554480">
                  <a:moveTo>
                    <a:pt x="0" y="0"/>
                  </a:moveTo>
                  <a:lnTo>
                    <a:pt x="24323039" y="0"/>
                  </a:lnTo>
                  <a:lnTo>
                    <a:pt x="2432303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4348439" cy="1579880"/>
            </a:xfrm>
            <a:custGeom>
              <a:avLst/>
              <a:gdLst/>
              <a:ahLst/>
              <a:cxnLst/>
              <a:rect l="l" t="t" r="r" b="b"/>
              <a:pathLst>
                <a:path w="24348439" h="157988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67180"/>
                  </a:lnTo>
                  <a:cubicBezTo>
                    <a:pt x="24348439" y="1574165"/>
                    <a:pt x="24342725" y="1579880"/>
                    <a:pt x="24335739" y="1579880"/>
                  </a:cubicBezTo>
                  <a:lnTo>
                    <a:pt x="12700" y="1579880"/>
                  </a:lnTo>
                  <a:cubicBezTo>
                    <a:pt x="5715" y="1579880"/>
                    <a:pt x="0" y="1574165"/>
                    <a:pt x="0" y="15671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67180"/>
                  </a:lnTo>
                  <a:lnTo>
                    <a:pt x="12700" y="1567180"/>
                  </a:lnTo>
                  <a:lnTo>
                    <a:pt x="12700" y="1554480"/>
                  </a:lnTo>
                  <a:lnTo>
                    <a:pt x="24335739" y="1554480"/>
                  </a:lnTo>
                  <a:lnTo>
                    <a:pt x="24335739" y="1567180"/>
                  </a:lnTo>
                  <a:lnTo>
                    <a:pt x="24323039" y="156718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2D5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8640" y="864108"/>
            <a:ext cx="16870680" cy="1097280"/>
            <a:chOff x="0" y="0"/>
            <a:chExt cx="2249424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2494240" cy="1539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59"/>
                </a:lnSpc>
              </a:pPr>
              <a:r>
                <a:rPr lang="en-US" sz="37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Future Scope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9115" y="2185035"/>
            <a:ext cx="5231130" cy="3379470"/>
            <a:chOff x="0" y="0"/>
            <a:chExt cx="6974840" cy="450596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6949440" cy="4480560"/>
            </a:xfrm>
            <a:custGeom>
              <a:avLst/>
              <a:gdLst/>
              <a:ahLst/>
              <a:cxnLst/>
              <a:rect l="l" t="t" r="r" b="b"/>
              <a:pathLst>
                <a:path w="6949440" h="4480560">
                  <a:moveTo>
                    <a:pt x="0" y="0"/>
                  </a:moveTo>
                  <a:lnTo>
                    <a:pt x="6949440" y="0"/>
                  </a:lnTo>
                  <a:lnTo>
                    <a:pt x="6949440" y="4480560"/>
                  </a:lnTo>
                  <a:lnTo>
                    <a:pt x="0" y="448056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6974840" cy="4505960"/>
            </a:xfrm>
            <a:custGeom>
              <a:avLst/>
              <a:gdLst/>
              <a:ahLst/>
              <a:cxnLst/>
              <a:rect l="l" t="t" r="r" b="b"/>
              <a:pathLst>
                <a:path w="6974840" h="450596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4493260"/>
                  </a:lnTo>
                  <a:cubicBezTo>
                    <a:pt x="6974840" y="4500245"/>
                    <a:pt x="6969125" y="4505960"/>
                    <a:pt x="6962140" y="4505960"/>
                  </a:cubicBezTo>
                  <a:lnTo>
                    <a:pt x="12700" y="4505960"/>
                  </a:lnTo>
                  <a:cubicBezTo>
                    <a:pt x="5715" y="4505960"/>
                    <a:pt x="0" y="4500245"/>
                    <a:pt x="0" y="4493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93260"/>
                  </a:lnTo>
                  <a:lnTo>
                    <a:pt x="12700" y="4493260"/>
                  </a:lnTo>
                  <a:lnTo>
                    <a:pt x="12700" y="4480560"/>
                  </a:lnTo>
                  <a:lnTo>
                    <a:pt x="6962140" y="4480560"/>
                  </a:lnTo>
                  <a:lnTo>
                    <a:pt x="6962140" y="4493260"/>
                  </a:lnTo>
                  <a:lnTo>
                    <a:pt x="6949440" y="44932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2331720"/>
            <a:ext cx="4937760" cy="1218660"/>
            <a:chOff x="0" y="0"/>
            <a:chExt cx="6583680" cy="1624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83680" cy="1624880"/>
            </a:xfrm>
            <a:custGeom>
              <a:avLst/>
              <a:gdLst/>
              <a:ahLst/>
              <a:cxnLst/>
              <a:rect l="l" t="t" r="r" b="b"/>
              <a:pathLst>
                <a:path w="6583680" h="1624880">
                  <a:moveTo>
                    <a:pt x="0" y="0"/>
                  </a:moveTo>
                  <a:lnTo>
                    <a:pt x="6583680" y="0"/>
                  </a:lnTo>
                  <a:lnTo>
                    <a:pt x="6583680" y="1624880"/>
                  </a:lnTo>
                  <a:lnTo>
                    <a:pt x="0" y="162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11" b="-708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6583680" cy="1682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9"/>
                </a:lnSpc>
              </a:pPr>
              <a:r>
                <a:rPr lang="en-US" sz="2449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🟦 Enhanced Accuracy</a:t>
              </a: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77240" y="3093720"/>
            <a:ext cx="475488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 the quality of generated reports by refining prompt design and improving input handling for better AI responses.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99835" y="2185035"/>
            <a:ext cx="5231130" cy="3379470"/>
            <a:chOff x="0" y="0"/>
            <a:chExt cx="6974840" cy="4505960"/>
          </a:xfrm>
        </p:grpSpPr>
        <p:sp>
          <p:nvSpPr>
            <p:cNvPr id="25" name="Freeform 25"/>
            <p:cNvSpPr/>
            <p:nvPr/>
          </p:nvSpPr>
          <p:spPr>
            <a:xfrm>
              <a:off x="12700" y="12700"/>
              <a:ext cx="6949440" cy="4480560"/>
            </a:xfrm>
            <a:custGeom>
              <a:avLst/>
              <a:gdLst/>
              <a:ahLst/>
              <a:cxnLst/>
              <a:rect l="l" t="t" r="r" b="b"/>
              <a:pathLst>
                <a:path w="6949440" h="4480560">
                  <a:moveTo>
                    <a:pt x="0" y="0"/>
                  </a:moveTo>
                  <a:lnTo>
                    <a:pt x="6949440" y="0"/>
                  </a:lnTo>
                  <a:lnTo>
                    <a:pt x="6949440" y="4480560"/>
                  </a:lnTo>
                  <a:lnTo>
                    <a:pt x="0" y="448056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974840" cy="4505960"/>
            </a:xfrm>
            <a:custGeom>
              <a:avLst/>
              <a:gdLst/>
              <a:ahLst/>
              <a:cxnLst/>
              <a:rect l="l" t="t" r="r" b="b"/>
              <a:pathLst>
                <a:path w="6974840" h="450596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4493260"/>
                  </a:lnTo>
                  <a:cubicBezTo>
                    <a:pt x="6974840" y="4500245"/>
                    <a:pt x="6969125" y="4505960"/>
                    <a:pt x="6962140" y="4505960"/>
                  </a:cubicBezTo>
                  <a:lnTo>
                    <a:pt x="12700" y="4505960"/>
                  </a:lnTo>
                  <a:cubicBezTo>
                    <a:pt x="5715" y="4505960"/>
                    <a:pt x="0" y="4500245"/>
                    <a:pt x="0" y="4493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93260"/>
                  </a:lnTo>
                  <a:lnTo>
                    <a:pt x="12700" y="4493260"/>
                  </a:lnTo>
                  <a:lnTo>
                    <a:pt x="12700" y="4480560"/>
                  </a:lnTo>
                  <a:lnTo>
                    <a:pt x="6962140" y="4480560"/>
                  </a:lnTo>
                  <a:lnTo>
                    <a:pt x="6962140" y="4493260"/>
                  </a:lnTo>
                  <a:lnTo>
                    <a:pt x="6949440" y="44932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46520" y="2331720"/>
            <a:ext cx="4937760" cy="1218660"/>
            <a:chOff x="0" y="0"/>
            <a:chExt cx="6583680" cy="16248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83680" cy="1624880"/>
            </a:xfrm>
            <a:custGeom>
              <a:avLst/>
              <a:gdLst/>
              <a:ahLst/>
              <a:cxnLst/>
              <a:rect l="l" t="t" r="r" b="b"/>
              <a:pathLst>
                <a:path w="6583680" h="1624880">
                  <a:moveTo>
                    <a:pt x="0" y="0"/>
                  </a:moveTo>
                  <a:lnTo>
                    <a:pt x="6583680" y="0"/>
                  </a:lnTo>
                  <a:lnTo>
                    <a:pt x="6583680" y="1624880"/>
                  </a:lnTo>
                  <a:lnTo>
                    <a:pt x="0" y="162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11" b="-708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6583680" cy="1682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9"/>
                </a:lnSpc>
              </a:pPr>
              <a:r>
                <a:rPr lang="en-US" sz="2449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⚡Mobile &amp; Web Deployment</a:t>
              </a: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537960" y="3093720"/>
            <a:ext cx="4754880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Extend the system to mobile applications and deploy it on web platforms for easier access and wider usage.</a:t>
            </a:r>
          </a:p>
          <a:p>
            <a:pPr algn="l">
              <a:lnSpc>
                <a:spcPts val="2579"/>
              </a:lnSpc>
            </a:pPr>
            <a:endParaRPr lang="en-US" sz="2149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12060555" y="2185035"/>
            <a:ext cx="5231130" cy="3379470"/>
            <a:chOff x="0" y="0"/>
            <a:chExt cx="6974840" cy="4505960"/>
          </a:xfrm>
        </p:grpSpPr>
        <p:sp>
          <p:nvSpPr>
            <p:cNvPr id="32" name="Freeform 32"/>
            <p:cNvSpPr/>
            <p:nvPr/>
          </p:nvSpPr>
          <p:spPr>
            <a:xfrm>
              <a:off x="12700" y="12700"/>
              <a:ext cx="6949440" cy="4480560"/>
            </a:xfrm>
            <a:custGeom>
              <a:avLst/>
              <a:gdLst/>
              <a:ahLst/>
              <a:cxnLst/>
              <a:rect l="l" t="t" r="r" b="b"/>
              <a:pathLst>
                <a:path w="6949440" h="4480560">
                  <a:moveTo>
                    <a:pt x="0" y="0"/>
                  </a:moveTo>
                  <a:lnTo>
                    <a:pt x="6949440" y="0"/>
                  </a:lnTo>
                  <a:lnTo>
                    <a:pt x="6949440" y="4480560"/>
                  </a:lnTo>
                  <a:lnTo>
                    <a:pt x="0" y="448056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6974840" cy="4505960"/>
            </a:xfrm>
            <a:custGeom>
              <a:avLst/>
              <a:gdLst/>
              <a:ahLst/>
              <a:cxnLst/>
              <a:rect l="l" t="t" r="r" b="b"/>
              <a:pathLst>
                <a:path w="6974840" h="450596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4493260"/>
                  </a:lnTo>
                  <a:cubicBezTo>
                    <a:pt x="6974840" y="4500245"/>
                    <a:pt x="6969125" y="4505960"/>
                    <a:pt x="6962140" y="4505960"/>
                  </a:cubicBezTo>
                  <a:lnTo>
                    <a:pt x="12700" y="4505960"/>
                  </a:lnTo>
                  <a:cubicBezTo>
                    <a:pt x="5715" y="4505960"/>
                    <a:pt x="0" y="4500245"/>
                    <a:pt x="0" y="4493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93260"/>
                  </a:lnTo>
                  <a:lnTo>
                    <a:pt x="12700" y="4493260"/>
                  </a:lnTo>
                  <a:lnTo>
                    <a:pt x="12700" y="4480560"/>
                  </a:lnTo>
                  <a:lnTo>
                    <a:pt x="6962140" y="4480560"/>
                  </a:lnTo>
                  <a:lnTo>
                    <a:pt x="6962140" y="4493260"/>
                  </a:lnTo>
                  <a:lnTo>
                    <a:pt x="6949440" y="44932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07240" y="2331720"/>
            <a:ext cx="4937760" cy="1218660"/>
            <a:chOff x="0" y="0"/>
            <a:chExt cx="6583680" cy="16248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3680" cy="1624880"/>
            </a:xfrm>
            <a:custGeom>
              <a:avLst/>
              <a:gdLst/>
              <a:ahLst/>
              <a:cxnLst/>
              <a:rect l="l" t="t" r="r" b="b"/>
              <a:pathLst>
                <a:path w="6583680" h="1624880">
                  <a:moveTo>
                    <a:pt x="0" y="0"/>
                  </a:moveTo>
                  <a:lnTo>
                    <a:pt x="6583680" y="0"/>
                  </a:lnTo>
                  <a:lnTo>
                    <a:pt x="6583680" y="1624880"/>
                  </a:lnTo>
                  <a:lnTo>
                    <a:pt x="0" y="162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11" b="-708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6583680" cy="1682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9"/>
                </a:lnSpc>
              </a:pPr>
              <a:r>
                <a:rPr lang="en-US" sz="2449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🧠 Advanced AI Integration</a:t>
              </a: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298680" y="3093720"/>
            <a:ext cx="475488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Integrate more advanced AI models to generate more accurate, detailed, and context-aware medical reports.</a:t>
            </a:r>
          </a:p>
          <a:p>
            <a:pPr algn="l">
              <a:lnSpc>
                <a:spcPts val="2579"/>
              </a:lnSpc>
            </a:pPr>
            <a:endParaRPr lang="en-US" sz="2149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539115" y="5888355"/>
            <a:ext cx="5231130" cy="3379470"/>
            <a:chOff x="0" y="0"/>
            <a:chExt cx="6974840" cy="4505960"/>
          </a:xfrm>
        </p:grpSpPr>
        <p:sp>
          <p:nvSpPr>
            <p:cNvPr id="39" name="Freeform 39"/>
            <p:cNvSpPr/>
            <p:nvPr/>
          </p:nvSpPr>
          <p:spPr>
            <a:xfrm>
              <a:off x="12700" y="12700"/>
              <a:ext cx="6949440" cy="4480560"/>
            </a:xfrm>
            <a:custGeom>
              <a:avLst/>
              <a:gdLst/>
              <a:ahLst/>
              <a:cxnLst/>
              <a:rect l="l" t="t" r="r" b="b"/>
              <a:pathLst>
                <a:path w="6949440" h="4480560">
                  <a:moveTo>
                    <a:pt x="0" y="0"/>
                  </a:moveTo>
                  <a:lnTo>
                    <a:pt x="6949440" y="0"/>
                  </a:lnTo>
                  <a:lnTo>
                    <a:pt x="6949440" y="4480560"/>
                  </a:lnTo>
                  <a:lnTo>
                    <a:pt x="0" y="448056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6974840" cy="4505960"/>
            </a:xfrm>
            <a:custGeom>
              <a:avLst/>
              <a:gdLst/>
              <a:ahLst/>
              <a:cxnLst/>
              <a:rect l="l" t="t" r="r" b="b"/>
              <a:pathLst>
                <a:path w="6974840" h="450596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4493260"/>
                  </a:lnTo>
                  <a:cubicBezTo>
                    <a:pt x="6974840" y="4500245"/>
                    <a:pt x="6969125" y="4505960"/>
                    <a:pt x="6962140" y="4505960"/>
                  </a:cubicBezTo>
                  <a:lnTo>
                    <a:pt x="12700" y="4505960"/>
                  </a:lnTo>
                  <a:cubicBezTo>
                    <a:pt x="5715" y="4505960"/>
                    <a:pt x="0" y="4500245"/>
                    <a:pt x="0" y="4493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93260"/>
                  </a:lnTo>
                  <a:lnTo>
                    <a:pt x="12700" y="4493260"/>
                  </a:lnTo>
                  <a:lnTo>
                    <a:pt x="12700" y="4480560"/>
                  </a:lnTo>
                  <a:lnTo>
                    <a:pt x="6962140" y="4480560"/>
                  </a:lnTo>
                  <a:lnTo>
                    <a:pt x="6962140" y="4493260"/>
                  </a:lnTo>
                  <a:lnTo>
                    <a:pt x="6949440" y="44932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6035040"/>
            <a:ext cx="4937760" cy="685800"/>
            <a:chOff x="0" y="0"/>
            <a:chExt cx="6583680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83680" cy="914400"/>
            </a:xfrm>
            <a:custGeom>
              <a:avLst/>
              <a:gdLst/>
              <a:ahLst/>
              <a:cxnLst/>
              <a:rect l="l" t="t" r="r" b="b"/>
              <a:pathLst>
                <a:path w="6583680" h="91440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65836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9"/>
                </a:lnSpc>
              </a:pPr>
              <a:r>
                <a:rPr lang="en-US" sz="2449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🌐 Real-World Deployment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77240" y="6797040"/>
            <a:ext cx="475488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 the system in hospitals or clinics to assist healthcare professionals in real-time documentation.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299835" y="5888355"/>
            <a:ext cx="5231130" cy="3379470"/>
            <a:chOff x="0" y="0"/>
            <a:chExt cx="6974840" cy="4505960"/>
          </a:xfrm>
        </p:grpSpPr>
        <p:sp>
          <p:nvSpPr>
            <p:cNvPr id="46" name="Freeform 46"/>
            <p:cNvSpPr/>
            <p:nvPr/>
          </p:nvSpPr>
          <p:spPr>
            <a:xfrm>
              <a:off x="12700" y="12700"/>
              <a:ext cx="6949440" cy="4480560"/>
            </a:xfrm>
            <a:custGeom>
              <a:avLst/>
              <a:gdLst/>
              <a:ahLst/>
              <a:cxnLst/>
              <a:rect l="l" t="t" r="r" b="b"/>
              <a:pathLst>
                <a:path w="6949440" h="4480560">
                  <a:moveTo>
                    <a:pt x="0" y="0"/>
                  </a:moveTo>
                  <a:lnTo>
                    <a:pt x="6949440" y="0"/>
                  </a:lnTo>
                  <a:lnTo>
                    <a:pt x="6949440" y="4480560"/>
                  </a:lnTo>
                  <a:lnTo>
                    <a:pt x="0" y="448056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0" y="0"/>
              <a:ext cx="6974840" cy="4505960"/>
            </a:xfrm>
            <a:custGeom>
              <a:avLst/>
              <a:gdLst/>
              <a:ahLst/>
              <a:cxnLst/>
              <a:rect l="l" t="t" r="r" b="b"/>
              <a:pathLst>
                <a:path w="6974840" h="450596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4493260"/>
                  </a:lnTo>
                  <a:cubicBezTo>
                    <a:pt x="6974840" y="4500245"/>
                    <a:pt x="6969125" y="4505960"/>
                    <a:pt x="6962140" y="4505960"/>
                  </a:cubicBezTo>
                  <a:lnTo>
                    <a:pt x="12700" y="4505960"/>
                  </a:lnTo>
                  <a:cubicBezTo>
                    <a:pt x="5715" y="4505960"/>
                    <a:pt x="0" y="4500245"/>
                    <a:pt x="0" y="4493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93260"/>
                  </a:lnTo>
                  <a:lnTo>
                    <a:pt x="12700" y="4493260"/>
                  </a:lnTo>
                  <a:lnTo>
                    <a:pt x="12700" y="4480560"/>
                  </a:lnTo>
                  <a:lnTo>
                    <a:pt x="6962140" y="4480560"/>
                  </a:lnTo>
                  <a:lnTo>
                    <a:pt x="6962140" y="4493260"/>
                  </a:lnTo>
                  <a:lnTo>
                    <a:pt x="6949440" y="44932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46520" y="6035040"/>
            <a:ext cx="4937760" cy="1218660"/>
            <a:chOff x="0" y="0"/>
            <a:chExt cx="6583680" cy="16248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583680" cy="1624880"/>
            </a:xfrm>
            <a:custGeom>
              <a:avLst/>
              <a:gdLst/>
              <a:ahLst/>
              <a:cxnLst/>
              <a:rect l="l" t="t" r="r" b="b"/>
              <a:pathLst>
                <a:path w="6583680" h="1624880">
                  <a:moveTo>
                    <a:pt x="0" y="0"/>
                  </a:moveTo>
                  <a:lnTo>
                    <a:pt x="6583680" y="0"/>
                  </a:lnTo>
                  <a:lnTo>
                    <a:pt x="6583680" y="1624880"/>
                  </a:lnTo>
                  <a:lnTo>
                    <a:pt x="0" y="162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11" b="-708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6583680" cy="1682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9"/>
                </a:lnSpc>
              </a:pPr>
              <a:r>
                <a:rPr lang="en-US" sz="2449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🔗 Feature Expansion</a:t>
              </a: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6537960" y="6797040"/>
            <a:ext cx="475488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 new features like patient history tracking, doctor recommendations, and personalized reports.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2060555" y="5888355"/>
            <a:ext cx="5231130" cy="3379470"/>
            <a:chOff x="0" y="0"/>
            <a:chExt cx="6974840" cy="4505960"/>
          </a:xfrm>
        </p:grpSpPr>
        <p:sp>
          <p:nvSpPr>
            <p:cNvPr id="53" name="Freeform 53"/>
            <p:cNvSpPr/>
            <p:nvPr/>
          </p:nvSpPr>
          <p:spPr>
            <a:xfrm>
              <a:off x="12700" y="12700"/>
              <a:ext cx="6949440" cy="4480560"/>
            </a:xfrm>
            <a:custGeom>
              <a:avLst/>
              <a:gdLst/>
              <a:ahLst/>
              <a:cxnLst/>
              <a:rect l="l" t="t" r="r" b="b"/>
              <a:pathLst>
                <a:path w="6949440" h="4480560">
                  <a:moveTo>
                    <a:pt x="0" y="0"/>
                  </a:moveTo>
                  <a:lnTo>
                    <a:pt x="6949440" y="0"/>
                  </a:lnTo>
                  <a:lnTo>
                    <a:pt x="6949440" y="4480560"/>
                  </a:lnTo>
                  <a:lnTo>
                    <a:pt x="0" y="4480560"/>
                  </a:lnTo>
                  <a:close/>
                </a:path>
              </a:pathLst>
            </a:custGeom>
            <a:solidFill>
              <a:srgbClr val="F0F2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6974840" cy="4505960"/>
            </a:xfrm>
            <a:custGeom>
              <a:avLst/>
              <a:gdLst/>
              <a:ahLst/>
              <a:cxnLst/>
              <a:rect l="l" t="t" r="r" b="b"/>
              <a:pathLst>
                <a:path w="6974840" h="4505960">
                  <a:moveTo>
                    <a:pt x="12700" y="0"/>
                  </a:moveTo>
                  <a:lnTo>
                    <a:pt x="6962140" y="0"/>
                  </a:lnTo>
                  <a:cubicBezTo>
                    <a:pt x="6969125" y="0"/>
                    <a:pt x="6974840" y="5715"/>
                    <a:pt x="6974840" y="12700"/>
                  </a:cubicBezTo>
                  <a:lnTo>
                    <a:pt x="6974840" y="4493260"/>
                  </a:lnTo>
                  <a:cubicBezTo>
                    <a:pt x="6974840" y="4500245"/>
                    <a:pt x="6969125" y="4505960"/>
                    <a:pt x="6962140" y="4505960"/>
                  </a:cubicBezTo>
                  <a:lnTo>
                    <a:pt x="12700" y="4505960"/>
                  </a:lnTo>
                  <a:cubicBezTo>
                    <a:pt x="5715" y="4505960"/>
                    <a:pt x="0" y="4500245"/>
                    <a:pt x="0" y="4493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493260"/>
                  </a:lnTo>
                  <a:lnTo>
                    <a:pt x="12700" y="4493260"/>
                  </a:lnTo>
                  <a:lnTo>
                    <a:pt x="12700" y="4480560"/>
                  </a:lnTo>
                  <a:lnTo>
                    <a:pt x="6962140" y="4480560"/>
                  </a:lnTo>
                  <a:lnTo>
                    <a:pt x="6962140" y="4493260"/>
                  </a:lnTo>
                  <a:lnTo>
                    <a:pt x="6949440" y="4493260"/>
                  </a:lnTo>
                  <a:lnTo>
                    <a:pt x="6949440" y="12700"/>
                  </a:lnTo>
                  <a:lnTo>
                    <a:pt x="6962140" y="12700"/>
                  </a:lnTo>
                  <a:lnTo>
                    <a:pt x="6962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6E4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207240" y="6035040"/>
            <a:ext cx="4937760" cy="1218660"/>
            <a:chOff x="0" y="0"/>
            <a:chExt cx="6583680" cy="16248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583680" cy="1624880"/>
            </a:xfrm>
            <a:custGeom>
              <a:avLst/>
              <a:gdLst/>
              <a:ahLst/>
              <a:cxnLst/>
              <a:rect l="l" t="t" r="r" b="b"/>
              <a:pathLst>
                <a:path w="6583680" h="1624880">
                  <a:moveTo>
                    <a:pt x="0" y="0"/>
                  </a:moveTo>
                  <a:lnTo>
                    <a:pt x="6583680" y="0"/>
                  </a:lnTo>
                  <a:lnTo>
                    <a:pt x="6583680" y="1624880"/>
                  </a:lnTo>
                  <a:lnTo>
                    <a:pt x="0" y="162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811" b="-708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6583680" cy="1682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9"/>
                </a:lnSpc>
              </a:pPr>
              <a:r>
                <a:rPr lang="en-US" sz="2449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🌐 Multi-Language Support</a:t>
              </a: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2939"/>
                </a:lnSpc>
              </a:pPr>
              <a:endParaRPr lang="en-US" sz="2449" b="1">
                <a:solidFill>
                  <a:srgbClr val="1B2D5E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2298680" y="6797040"/>
            <a:ext cx="475488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1C1C3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 support for multiple languages to make the system accessible to a wider audience.</a:t>
            </a:r>
          </a:p>
          <a:p>
            <a:pPr algn="l">
              <a:lnSpc>
                <a:spcPts val="2579"/>
              </a:lnSpc>
            </a:pPr>
            <a:endParaRPr lang="en-US" sz="2149">
              <a:solidFill>
                <a:srgbClr val="1C1C3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59" name="Group 59"/>
          <p:cNvGrpSpPr/>
          <p:nvPr/>
        </p:nvGrpSpPr>
        <p:grpSpPr>
          <a:xfrm rot="-5400000">
            <a:off x="15471424" y="6917088"/>
            <a:ext cx="5898624" cy="3855248"/>
            <a:chOff x="0" y="0"/>
            <a:chExt cx="2036073" cy="133074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36074" cy="1330745"/>
            </a:xfrm>
            <a:custGeom>
              <a:avLst/>
              <a:gdLst/>
              <a:ahLst/>
              <a:cxnLst/>
              <a:rect l="l" t="t" r="r" b="b"/>
              <a:pathLst>
                <a:path w="2036074" h="1330745">
                  <a:moveTo>
                    <a:pt x="1576768" y="716958"/>
                  </a:moveTo>
                  <a:lnTo>
                    <a:pt x="1576768" y="557293"/>
                  </a:lnTo>
                  <a:cubicBezTo>
                    <a:pt x="1576769" y="524360"/>
                    <a:pt x="1563687" y="492776"/>
                    <a:pt x="1540400" y="469489"/>
                  </a:cubicBezTo>
                  <a:cubicBezTo>
                    <a:pt x="1517113" y="446202"/>
                    <a:pt x="1485529" y="433120"/>
                    <a:pt x="1452597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1168766" y="922734"/>
                  </a:lnTo>
                  <a:cubicBezTo>
                    <a:pt x="1201698" y="922733"/>
                    <a:pt x="1233282" y="935816"/>
                    <a:pt x="1256569" y="959102"/>
                  </a:cubicBezTo>
                  <a:cubicBezTo>
                    <a:pt x="1279856" y="982389"/>
                    <a:pt x="1292938" y="1013973"/>
                    <a:pt x="1292937" y="1046905"/>
                  </a:cubicBezTo>
                  <a:lnTo>
                    <a:pt x="1292937" y="1206572"/>
                  </a:lnTo>
                  <a:cubicBezTo>
                    <a:pt x="1292937" y="1275151"/>
                    <a:pt x="1348532" y="1330745"/>
                    <a:pt x="1417110" y="1330745"/>
                  </a:cubicBezTo>
                  <a:lnTo>
                    <a:pt x="1911902" y="1330745"/>
                  </a:lnTo>
                  <a:cubicBezTo>
                    <a:pt x="1944835" y="1330745"/>
                    <a:pt x="1976419" y="1317663"/>
                    <a:pt x="1999706" y="1294376"/>
                  </a:cubicBezTo>
                  <a:cubicBezTo>
                    <a:pt x="2022992" y="1271089"/>
                    <a:pt x="2036075" y="1239505"/>
                    <a:pt x="2036074" y="1206572"/>
                  </a:cubicBezTo>
                  <a:lnTo>
                    <a:pt x="2036074" y="965303"/>
                  </a:lnTo>
                  <a:cubicBezTo>
                    <a:pt x="2036075" y="932370"/>
                    <a:pt x="2022992" y="900787"/>
                    <a:pt x="1999705" y="877500"/>
                  </a:cubicBezTo>
                  <a:cubicBezTo>
                    <a:pt x="1976419" y="854213"/>
                    <a:pt x="1944835" y="841131"/>
                    <a:pt x="1911902" y="841131"/>
                  </a:cubicBezTo>
                  <a:lnTo>
                    <a:pt x="1700943" y="841131"/>
                  </a:lnTo>
                  <a:cubicBezTo>
                    <a:pt x="1668010" y="841132"/>
                    <a:pt x="1636426" y="828049"/>
                    <a:pt x="1613138" y="804762"/>
                  </a:cubicBezTo>
                  <a:cubicBezTo>
                    <a:pt x="1589851" y="781475"/>
                    <a:pt x="1576768" y="749891"/>
                    <a:pt x="1576768" y="716958"/>
                  </a:cubicBez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 rot="-10800000">
            <a:off x="-951313" y="8926957"/>
            <a:ext cx="12884233" cy="2034287"/>
            <a:chOff x="0" y="0"/>
            <a:chExt cx="8428327" cy="133074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428328" cy="1330745"/>
            </a:xfrm>
            <a:custGeom>
              <a:avLst/>
              <a:gdLst/>
              <a:ahLst/>
              <a:cxnLst/>
              <a:rect l="l" t="t" r="r" b="b"/>
              <a:pathLst>
                <a:path w="8428328" h="1330745">
                  <a:moveTo>
                    <a:pt x="7969023" y="716958"/>
                  </a:moveTo>
                  <a:lnTo>
                    <a:pt x="7969023" y="557293"/>
                  </a:lnTo>
                  <a:cubicBezTo>
                    <a:pt x="7969023" y="524360"/>
                    <a:pt x="7955941" y="492776"/>
                    <a:pt x="7932654" y="469489"/>
                  </a:cubicBezTo>
                  <a:cubicBezTo>
                    <a:pt x="7909368" y="446202"/>
                    <a:pt x="7877783" y="433120"/>
                    <a:pt x="7844851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98561"/>
                  </a:lnTo>
                  <a:cubicBezTo>
                    <a:pt x="0" y="867139"/>
                    <a:pt x="55593" y="922733"/>
                    <a:pt x="124172" y="922734"/>
                  </a:cubicBezTo>
                  <a:lnTo>
                    <a:pt x="7561020" y="922734"/>
                  </a:lnTo>
                  <a:cubicBezTo>
                    <a:pt x="7593953" y="922733"/>
                    <a:pt x="7625536" y="935816"/>
                    <a:pt x="7648823" y="959102"/>
                  </a:cubicBezTo>
                  <a:cubicBezTo>
                    <a:pt x="7672110" y="982389"/>
                    <a:pt x="7685192" y="1013973"/>
                    <a:pt x="7685191" y="1046905"/>
                  </a:cubicBezTo>
                  <a:lnTo>
                    <a:pt x="7685191" y="1206572"/>
                  </a:lnTo>
                  <a:cubicBezTo>
                    <a:pt x="7685191" y="1275151"/>
                    <a:pt x="7740786" y="1330745"/>
                    <a:pt x="7809364" y="1330745"/>
                  </a:cubicBezTo>
                  <a:lnTo>
                    <a:pt x="8304157" y="1330745"/>
                  </a:lnTo>
                  <a:cubicBezTo>
                    <a:pt x="8337090" y="1330745"/>
                    <a:pt x="8368673" y="1317663"/>
                    <a:pt x="8391960" y="1294376"/>
                  </a:cubicBezTo>
                  <a:cubicBezTo>
                    <a:pt x="8415247" y="1271089"/>
                    <a:pt x="8428329" y="1239505"/>
                    <a:pt x="8428328" y="1206572"/>
                  </a:cubicBezTo>
                  <a:lnTo>
                    <a:pt x="8428328" y="965303"/>
                  </a:lnTo>
                  <a:cubicBezTo>
                    <a:pt x="8428329" y="932370"/>
                    <a:pt x="8415247" y="900787"/>
                    <a:pt x="8391960" y="877500"/>
                  </a:cubicBezTo>
                  <a:cubicBezTo>
                    <a:pt x="8368673" y="854213"/>
                    <a:pt x="8337090" y="841131"/>
                    <a:pt x="8304157" y="841131"/>
                  </a:cubicBezTo>
                  <a:lnTo>
                    <a:pt x="8093197" y="841131"/>
                  </a:lnTo>
                  <a:cubicBezTo>
                    <a:pt x="8060264" y="841132"/>
                    <a:pt x="8028680" y="828049"/>
                    <a:pt x="8005393" y="804762"/>
                  </a:cubicBezTo>
                  <a:cubicBezTo>
                    <a:pt x="7982105" y="781475"/>
                    <a:pt x="7969023" y="749891"/>
                    <a:pt x="7969023" y="716958"/>
                  </a:cubicBezTo>
                  <a:close/>
                </a:path>
              </a:pathLst>
            </a:custGeom>
            <a:solidFill>
              <a:srgbClr val="1C1C3A"/>
            </a:solid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10167747"/>
            <a:ext cx="18261330" cy="128778"/>
            <a:chOff x="0" y="0"/>
            <a:chExt cx="24348440" cy="171704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891540"/>
            <a:ext cx="16870680" cy="1097280"/>
            <a:chOff x="0" y="0"/>
            <a:chExt cx="2249424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4239" cy="1463040"/>
            </a:xfrm>
            <a:custGeom>
              <a:avLst/>
              <a:gdLst/>
              <a:ahLst/>
              <a:cxnLst/>
              <a:rect l="l" t="t" r="r" b="b"/>
              <a:pathLst>
                <a:path w="22494239" h="1463040">
                  <a:moveTo>
                    <a:pt x="0" y="0"/>
                  </a:moveTo>
                  <a:lnTo>
                    <a:pt x="22494239" y="0"/>
                  </a:lnTo>
                  <a:lnTo>
                    <a:pt x="22494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582" b="-2495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2494240" cy="1558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Conclusion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275" y="2047875"/>
            <a:ext cx="16889730" cy="87630"/>
            <a:chOff x="0" y="0"/>
            <a:chExt cx="22519640" cy="116840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22494239" cy="91440"/>
            </a:xfrm>
            <a:custGeom>
              <a:avLst/>
              <a:gdLst/>
              <a:ahLst/>
              <a:cxnLst/>
              <a:rect l="l" t="t" r="r" b="b"/>
              <a:pathLst>
                <a:path w="22494239" h="91440">
                  <a:moveTo>
                    <a:pt x="0" y="0"/>
                  </a:moveTo>
                  <a:lnTo>
                    <a:pt x="22494239" y="0"/>
                  </a:lnTo>
                  <a:lnTo>
                    <a:pt x="2249423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519639" cy="116840"/>
            </a:xfrm>
            <a:custGeom>
              <a:avLst/>
              <a:gdLst/>
              <a:ahLst/>
              <a:cxnLst/>
              <a:rect l="l" t="t" r="r" b="b"/>
              <a:pathLst>
                <a:path w="22519639" h="116840">
                  <a:moveTo>
                    <a:pt x="12700" y="0"/>
                  </a:moveTo>
                  <a:lnTo>
                    <a:pt x="22506939" y="0"/>
                  </a:lnTo>
                  <a:cubicBezTo>
                    <a:pt x="22513925" y="0"/>
                    <a:pt x="22519639" y="5715"/>
                    <a:pt x="22519639" y="12700"/>
                  </a:cubicBezTo>
                  <a:lnTo>
                    <a:pt x="22519639" y="104140"/>
                  </a:lnTo>
                  <a:cubicBezTo>
                    <a:pt x="22519639" y="111125"/>
                    <a:pt x="22513925" y="116840"/>
                    <a:pt x="22506939" y="116840"/>
                  </a:cubicBezTo>
                  <a:lnTo>
                    <a:pt x="12700" y="116840"/>
                  </a:lnTo>
                  <a:cubicBezTo>
                    <a:pt x="5715" y="116840"/>
                    <a:pt x="0" y="111125"/>
                    <a:pt x="0" y="104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4140"/>
                  </a:lnTo>
                  <a:lnTo>
                    <a:pt x="12700" y="104140"/>
                  </a:lnTo>
                  <a:lnTo>
                    <a:pt x="12700" y="91440"/>
                  </a:lnTo>
                  <a:lnTo>
                    <a:pt x="22506939" y="91440"/>
                  </a:lnTo>
                  <a:lnTo>
                    <a:pt x="22506939" y="104140"/>
                  </a:lnTo>
                  <a:lnTo>
                    <a:pt x="22494239" y="104140"/>
                  </a:lnTo>
                  <a:lnTo>
                    <a:pt x="22494239" y="12700"/>
                  </a:lnTo>
                  <a:lnTo>
                    <a:pt x="22506939" y="12700"/>
                  </a:lnTo>
                  <a:lnTo>
                    <a:pt x="225069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275" y="2390775"/>
            <a:ext cx="636270" cy="910590"/>
            <a:chOff x="0" y="0"/>
            <a:chExt cx="848360" cy="1214120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848360" cy="1214120"/>
            </a:xfrm>
            <a:custGeom>
              <a:avLst/>
              <a:gdLst/>
              <a:ahLst/>
              <a:cxnLst/>
              <a:rect l="l" t="t" r="r" b="b"/>
              <a:pathLst>
                <a:path w="848360" h="121412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01420"/>
                  </a:lnTo>
                  <a:cubicBezTo>
                    <a:pt x="848360" y="1208405"/>
                    <a:pt x="842645" y="1214120"/>
                    <a:pt x="83566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835660" y="1188720"/>
                  </a:lnTo>
                  <a:lnTo>
                    <a:pt x="835660" y="1201420"/>
                  </a:lnTo>
                  <a:lnTo>
                    <a:pt x="822960" y="1201420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400300"/>
            <a:ext cx="617220" cy="891540"/>
            <a:chOff x="0" y="0"/>
            <a:chExt cx="822960" cy="1188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r="-13532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2296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9235" y="2390775"/>
            <a:ext cx="16066770" cy="910590"/>
            <a:chOff x="0" y="0"/>
            <a:chExt cx="21422360" cy="121412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1396961" cy="1188720"/>
            </a:xfrm>
            <a:custGeom>
              <a:avLst/>
              <a:gdLst/>
              <a:ahLst/>
              <a:cxnLst/>
              <a:rect l="l" t="t" r="r" b="b"/>
              <a:pathLst>
                <a:path w="21396961" h="1188720">
                  <a:moveTo>
                    <a:pt x="0" y="0"/>
                  </a:moveTo>
                  <a:lnTo>
                    <a:pt x="21396961" y="0"/>
                  </a:lnTo>
                  <a:lnTo>
                    <a:pt x="21396961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21422361" cy="1214120"/>
            </a:xfrm>
            <a:custGeom>
              <a:avLst/>
              <a:gdLst/>
              <a:ahLst/>
              <a:cxnLst/>
              <a:rect l="l" t="t" r="r" b="b"/>
              <a:pathLst>
                <a:path w="21422361" h="1214120">
                  <a:moveTo>
                    <a:pt x="12700" y="0"/>
                  </a:moveTo>
                  <a:lnTo>
                    <a:pt x="21409661" y="0"/>
                  </a:lnTo>
                  <a:cubicBezTo>
                    <a:pt x="21416646" y="0"/>
                    <a:pt x="21422361" y="5715"/>
                    <a:pt x="21422361" y="12700"/>
                  </a:cubicBezTo>
                  <a:lnTo>
                    <a:pt x="21422361" y="1201420"/>
                  </a:lnTo>
                  <a:cubicBezTo>
                    <a:pt x="21422361" y="1208405"/>
                    <a:pt x="21416646" y="1214120"/>
                    <a:pt x="21409661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21409661" y="1188720"/>
                  </a:lnTo>
                  <a:lnTo>
                    <a:pt x="21409661" y="1201420"/>
                  </a:lnTo>
                  <a:lnTo>
                    <a:pt x="21396961" y="1201420"/>
                  </a:lnTo>
                  <a:lnTo>
                    <a:pt x="21396961" y="12700"/>
                  </a:lnTo>
                  <a:lnTo>
                    <a:pt x="21409661" y="12700"/>
                  </a:lnTo>
                  <a:lnTo>
                    <a:pt x="214096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5920" y="2400300"/>
            <a:ext cx="15773400" cy="891540"/>
            <a:chOff x="0" y="0"/>
            <a:chExt cx="21031200" cy="11887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031200" cy="1188720"/>
            </a:xfrm>
            <a:custGeom>
              <a:avLst/>
              <a:gdLst/>
              <a:ahLst/>
              <a:cxnLst/>
              <a:rect l="l" t="t" r="r" b="b"/>
              <a:pathLst>
                <a:path w="21031200" h="1188720">
                  <a:moveTo>
                    <a:pt x="0" y="0"/>
                  </a:moveTo>
                  <a:lnTo>
                    <a:pt x="21031200" y="0"/>
                  </a:lnTo>
                  <a:lnTo>
                    <a:pt x="21031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735" b="-2947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10312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We identified the challenge of time-consuming and repetitive clinical documentation in healthcare systems.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275" y="3652647"/>
            <a:ext cx="636270" cy="910590"/>
            <a:chOff x="0" y="0"/>
            <a:chExt cx="848360" cy="1214120"/>
          </a:xfrm>
        </p:grpSpPr>
        <p:sp>
          <p:nvSpPr>
            <p:cNvPr id="27" name="Freeform 27"/>
            <p:cNvSpPr/>
            <p:nvPr/>
          </p:nvSpPr>
          <p:spPr>
            <a:xfrm>
              <a:off x="12700" y="1270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848360" cy="1214120"/>
            </a:xfrm>
            <a:custGeom>
              <a:avLst/>
              <a:gdLst/>
              <a:ahLst/>
              <a:cxnLst/>
              <a:rect l="l" t="t" r="r" b="b"/>
              <a:pathLst>
                <a:path w="848360" h="121412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01420"/>
                  </a:lnTo>
                  <a:cubicBezTo>
                    <a:pt x="848360" y="1208405"/>
                    <a:pt x="842645" y="1214120"/>
                    <a:pt x="83566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835660" y="1188720"/>
                  </a:lnTo>
                  <a:lnTo>
                    <a:pt x="835660" y="1201420"/>
                  </a:lnTo>
                  <a:lnTo>
                    <a:pt x="822960" y="1201420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3662172"/>
            <a:ext cx="617220" cy="891540"/>
            <a:chOff x="0" y="0"/>
            <a:chExt cx="822960" cy="1188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r="-13532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82296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99235" y="3652647"/>
            <a:ext cx="16066770" cy="910590"/>
            <a:chOff x="0" y="0"/>
            <a:chExt cx="21422360" cy="1214120"/>
          </a:xfrm>
        </p:grpSpPr>
        <p:sp>
          <p:nvSpPr>
            <p:cNvPr id="33" name="Freeform 33"/>
            <p:cNvSpPr/>
            <p:nvPr/>
          </p:nvSpPr>
          <p:spPr>
            <a:xfrm>
              <a:off x="12700" y="12700"/>
              <a:ext cx="21396961" cy="1188720"/>
            </a:xfrm>
            <a:custGeom>
              <a:avLst/>
              <a:gdLst/>
              <a:ahLst/>
              <a:cxnLst/>
              <a:rect l="l" t="t" r="r" b="b"/>
              <a:pathLst>
                <a:path w="21396961" h="1188720">
                  <a:moveTo>
                    <a:pt x="0" y="0"/>
                  </a:moveTo>
                  <a:lnTo>
                    <a:pt x="21396961" y="0"/>
                  </a:lnTo>
                  <a:lnTo>
                    <a:pt x="21396961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21422361" cy="1214120"/>
            </a:xfrm>
            <a:custGeom>
              <a:avLst/>
              <a:gdLst/>
              <a:ahLst/>
              <a:cxnLst/>
              <a:rect l="l" t="t" r="r" b="b"/>
              <a:pathLst>
                <a:path w="21422361" h="1214120">
                  <a:moveTo>
                    <a:pt x="12700" y="0"/>
                  </a:moveTo>
                  <a:lnTo>
                    <a:pt x="21409661" y="0"/>
                  </a:lnTo>
                  <a:cubicBezTo>
                    <a:pt x="21416646" y="0"/>
                    <a:pt x="21422361" y="5715"/>
                    <a:pt x="21422361" y="12700"/>
                  </a:cubicBezTo>
                  <a:lnTo>
                    <a:pt x="21422361" y="1201420"/>
                  </a:lnTo>
                  <a:cubicBezTo>
                    <a:pt x="21422361" y="1208405"/>
                    <a:pt x="21416646" y="1214120"/>
                    <a:pt x="21409661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21409661" y="1188720"/>
                  </a:lnTo>
                  <a:lnTo>
                    <a:pt x="21409661" y="1201420"/>
                  </a:lnTo>
                  <a:lnTo>
                    <a:pt x="21396961" y="1201420"/>
                  </a:lnTo>
                  <a:lnTo>
                    <a:pt x="21396961" y="12700"/>
                  </a:lnTo>
                  <a:lnTo>
                    <a:pt x="21409661" y="12700"/>
                  </a:lnTo>
                  <a:lnTo>
                    <a:pt x="214096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45920" y="3662172"/>
            <a:ext cx="15773400" cy="891540"/>
            <a:chOff x="0" y="0"/>
            <a:chExt cx="21031200" cy="11887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031200" cy="1188720"/>
            </a:xfrm>
            <a:custGeom>
              <a:avLst/>
              <a:gdLst/>
              <a:ahLst/>
              <a:cxnLst/>
              <a:rect l="l" t="t" r="r" b="b"/>
              <a:pathLst>
                <a:path w="21031200" h="1188720">
                  <a:moveTo>
                    <a:pt x="0" y="0"/>
                  </a:moveTo>
                  <a:lnTo>
                    <a:pt x="21031200" y="0"/>
                  </a:lnTo>
                  <a:lnTo>
                    <a:pt x="21031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735" b="-2947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210312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We developed MediScribe, an AI-based system that generates structured medical reports using the Gemini API.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6275" y="4914519"/>
            <a:ext cx="636270" cy="910590"/>
            <a:chOff x="0" y="0"/>
            <a:chExt cx="848360" cy="1214120"/>
          </a:xfrm>
        </p:grpSpPr>
        <p:sp>
          <p:nvSpPr>
            <p:cNvPr id="39" name="Freeform 39"/>
            <p:cNvSpPr/>
            <p:nvPr/>
          </p:nvSpPr>
          <p:spPr>
            <a:xfrm>
              <a:off x="12700" y="1270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848360" cy="1214120"/>
            </a:xfrm>
            <a:custGeom>
              <a:avLst/>
              <a:gdLst/>
              <a:ahLst/>
              <a:cxnLst/>
              <a:rect l="l" t="t" r="r" b="b"/>
              <a:pathLst>
                <a:path w="848360" h="121412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01420"/>
                  </a:lnTo>
                  <a:cubicBezTo>
                    <a:pt x="848360" y="1208405"/>
                    <a:pt x="842645" y="1214120"/>
                    <a:pt x="83566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835660" y="1188720"/>
                  </a:lnTo>
                  <a:lnTo>
                    <a:pt x="835660" y="1201420"/>
                  </a:lnTo>
                  <a:lnTo>
                    <a:pt x="822960" y="1201420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4924044"/>
            <a:ext cx="617220" cy="891540"/>
            <a:chOff x="0" y="0"/>
            <a:chExt cx="822960" cy="11887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r="-13532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2296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99235" y="4914519"/>
            <a:ext cx="16066770" cy="910590"/>
            <a:chOff x="0" y="0"/>
            <a:chExt cx="21422360" cy="1214120"/>
          </a:xfrm>
        </p:grpSpPr>
        <p:sp>
          <p:nvSpPr>
            <p:cNvPr id="45" name="Freeform 45"/>
            <p:cNvSpPr/>
            <p:nvPr/>
          </p:nvSpPr>
          <p:spPr>
            <a:xfrm>
              <a:off x="12700" y="12700"/>
              <a:ext cx="21396961" cy="1188720"/>
            </a:xfrm>
            <a:custGeom>
              <a:avLst/>
              <a:gdLst/>
              <a:ahLst/>
              <a:cxnLst/>
              <a:rect l="l" t="t" r="r" b="b"/>
              <a:pathLst>
                <a:path w="21396961" h="1188720">
                  <a:moveTo>
                    <a:pt x="0" y="0"/>
                  </a:moveTo>
                  <a:lnTo>
                    <a:pt x="21396961" y="0"/>
                  </a:lnTo>
                  <a:lnTo>
                    <a:pt x="21396961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21422361" cy="1214120"/>
            </a:xfrm>
            <a:custGeom>
              <a:avLst/>
              <a:gdLst/>
              <a:ahLst/>
              <a:cxnLst/>
              <a:rect l="l" t="t" r="r" b="b"/>
              <a:pathLst>
                <a:path w="21422361" h="1214120">
                  <a:moveTo>
                    <a:pt x="12700" y="0"/>
                  </a:moveTo>
                  <a:lnTo>
                    <a:pt x="21409661" y="0"/>
                  </a:lnTo>
                  <a:cubicBezTo>
                    <a:pt x="21416646" y="0"/>
                    <a:pt x="21422361" y="5715"/>
                    <a:pt x="21422361" y="12700"/>
                  </a:cubicBezTo>
                  <a:lnTo>
                    <a:pt x="21422361" y="1201420"/>
                  </a:lnTo>
                  <a:cubicBezTo>
                    <a:pt x="21422361" y="1208405"/>
                    <a:pt x="21416646" y="1214120"/>
                    <a:pt x="21409661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21409661" y="1188720"/>
                  </a:lnTo>
                  <a:lnTo>
                    <a:pt x="21409661" y="1201420"/>
                  </a:lnTo>
                  <a:lnTo>
                    <a:pt x="21396961" y="1201420"/>
                  </a:lnTo>
                  <a:lnTo>
                    <a:pt x="21396961" y="12700"/>
                  </a:lnTo>
                  <a:lnTo>
                    <a:pt x="21409661" y="12700"/>
                  </a:lnTo>
                  <a:lnTo>
                    <a:pt x="214096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45920" y="4924044"/>
            <a:ext cx="15773400" cy="891540"/>
            <a:chOff x="0" y="0"/>
            <a:chExt cx="21031200" cy="11887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031200" cy="1188720"/>
            </a:xfrm>
            <a:custGeom>
              <a:avLst/>
              <a:gdLst/>
              <a:ahLst/>
              <a:cxnLst/>
              <a:rect l="l" t="t" r="r" b="b"/>
              <a:pathLst>
                <a:path w="21031200" h="1188720">
                  <a:moveTo>
                    <a:pt x="0" y="0"/>
                  </a:moveTo>
                  <a:lnTo>
                    <a:pt x="21031200" y="0"/>
                  </a:lnTo>
                  <a:lnTo>
                    <a:pt x="21031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735" b="-2947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210312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 system successfully generates reports in real-time with a clean interface and efficient performance.</a:t>
              </a:r>
            </a:p>
            <a:p>
              <a:pPr algn="l">
                <a:lnSpc>
                  <a:spcPts val="3059"/>
                </a:lnSpc>
              </a:pPr>
              <a:endParaRPr lang="en-US" sz="254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6275" y="6176391"/>
            <a:ext cx="636270" cy="910590"/>
            <a:chOff x="0" y="0"/>
            <a:chExt cx="848360" cy="1214120"/>
          </a:xfrm>
        </p:grpSpPr>
        <p:sp>
          <p:nvSpPr>
            <p:cNvPr id="51" name="Freeform 51"/>
            <p:cNvSpPr/>
            <p:nvPr/>
          </p:nvSpPr>
          <p:spPr>
            <a:xfrm>
              <a:off x="12700" y="1270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848360" cy="1214120"/>
            </a:xfrm>
            <a:custGeom>
              <a:avLst/>
              <a:gdLst/>
              <a:ahLst/>
              <a:cxnLst/>
              <a:rect l="l" t="t" r="r" b="b"/>
              <a:pathLst>
                <a:path w="848360" h="121412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01420"/>
                  </a:lnTo>
                  <a:cubicBezTo>
                    <a:pt x="848360" y="1208405"/>
                    <a:pt x="842645" y="1214120"/>
                    <a:pt x="83566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835660" y="1188720"/>
                  </a:lnTo>
                  <a:lnTo>
                    <a:pt x="835660" y="1201420"/>
                  </a:lnTo>
                  <a:lnTo>
                    <a:pt x="822960" y="1201420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5800" y="6185916"/>
            <a:ext cx="617220" cy="891540"/>
            <a:chOff x="0" y="0"/>
            <a:chExt cx="822960" cy="11887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r="-13532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2296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99235" y="6176391"/>
            <a:ext cx="16066770" cy="910590"/>
            <a:chOff x="0" y="0"/>
            <a:chExt cx="21422360" cy="1214120"/>
          </a:xfrm>
        </p:grpSpPr>
        <p:sp>
          <p:nvSpPr>
            <p:cNvPr id="57" name="Freeform 57"/>
            <p:cNvSpPr/>
            <p:nvPr/>
          </p:nvSpPr>
          <p:spPr>
            <a:xfrm>
              <a:off x="12700" y="12700"/>
              <a:ext cx="21396961" cy="1188720"/>
            </a:xfrm>
            <a:custGeom>
              <a:avLst/>
              <a:gdLst/>
              <a:ahLst/>
              <a:cxnLst/>
              <a:rect l="l" t="t" r="r" b="b"/>
              <a:pathLst>
                <a:path w="21396961" h="1188720">
                  <a:moveTo>
                    <a:pt x="0" y="0"/>
                  </a:moveTo>
                  <a:lnTo>
                    <a:pt x="21396961" y="0"/>
                  </a:lnTo>
                  <a:lnTo>
                    <a:pt x="21396961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21422361" cy="1214120"/>
            </a:xfrm>
            <a:custGeom>
              <a:avLst/>
              <a:gdLst/>
              <a:ahLst/>
              <a:cxnLst/>
              <a:rect l="l" t="t" r="r" b="b"/>
              <a:pathLst>
                <a:path w="21422361" h="1214120">
                  <a:moveTo>
                    <a:pt x="12700" y="0"/>
                  </a:moveTo>
                  <a:lnTo>
                    <a:pt x="21409661" y="0"/>
                  </a:lnTo>
                  <a:cubicBezTo>
                    <a:pt x="21416646" y="0"/>
                    <a:pt x="21422361" y="5715"/>
                    <a:pt x="21422361" y="12700"/>
                  </a:cubicBezTo>
                  <a:lnTo>
                    <a:pt x="21422361" y="1201420"/>
                  </a:lnTo>
                  <a:cubicBezTo>
                    <a:pt x="21422361" y="1208405"/>
                    <a:pt x="21416646" y="1214120"/>
                    <a:pt x="21409661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21409661" y="1188720"/>
                  </a:lnTo>
                  <a:lnTo>
                    <a:pt x="21409661" y="1201420"/>
                  </a:lnTo>
                  <a:lnTo>
                    <a:pt x="21396961" y="1201420"/>
                  </a:lnTo>
                  <a:lnTo>
                    <a:pt x="21396961" y="12700"/>
                  </a:lnTo>
                  <a:lnTo>
                    <a:pt x="21409661" y="12700"/>
                  </a:lnTo>
                  <a:lnTo>
                    <a:pt x="214096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645920" y="6185916"/>
            <a:ext cx="15773400" cy="891540"/>
            <a:chOff x="0" y="0"/>
            <a:chExt cx="21031200" cy="11887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031200" cy="1188720"/>
            </a:xfrm>
            <a:custGeom>
              <a:avLst/>
              <a:gdLst/>
              <a:ahLst/>
              <a:cxnLst/>
              <a:rect l="l" t="t" r="r" b="b"/>
              <a:pathLst>
                <a:path w="21031200" h="1188720">
                  <a:moveTo>
                    <a:pt x="0" y="0"/>
                  </a:moveTo>
                  <a:lnTo>
                    <a:pt x="21031200" y="0"/>
                  </a:lnTo>
                  <a:lnTo>
                    <a:pt x="21031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735" b="-2947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210312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Our approach demonstrates how Generative AI can automate tasks and improve user experience in healthcare.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6275" y="7438263"/>
            <a:ext cx="636270" cy="910590"/>
            <a:chOff x="0" y="0"/>
            <a:chExt cx="848360" cy="1214120"/>
          </a:xfrm>
        </p:grpSpPr>
        <p:sp>
          <p:nvSpPr>
            <p:cNvPr id="63" name="Freeform 63"/>
            <p:cNvSpPr/>
            <p:nvPr/>
          </p:nvSpPr>
          <p:spPr>
            <a:xfrm>
              <a:off x="12700" y="1270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0"/>
              <a:ext cx="848360" cy="1214120"/>
            </a:xfrm>
            <a:custGeom>
              <a:avLst/>
              <a:gdLst/>
              <a:ahLst/>
              <a:cxnLst/>
              <a:rect l="l" t="t" r="r" b="b"/>
              <a:pathLst>
                <a:path w="848360" h="1214120">
                  <a:moveTo>
                    <a:pt x="12700" y="0"/>
                  </a:moveTo>
                  <a:lnTo>
                    <a:pt x="835660" y="0"/>
                  </a:lnTo>
                  <a:cubicBezTo>
                    <a:pt x="842645" y="0"/>
                    <a:pt x="848360" y="5715"/>
                    <a:pt x="848360" y="12700"/>
                  </a:cubicBezTo>
                  <a:lnTo>
                    <a:pt x="848360" y="1201420"/>
                  </a:lnTo>
                  <a:cubicBezTo>
                    <a:pt x="848360" y="1208405"/>
                    <a:pt x="842645" y="1214120"/>
                    <a:pt x="835660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835660" y="1188720"/>
                  </a:lnTo>
                  <a:lnTo>
                    <a:pt x="835660" y="1201420"/>
                  </a:lnTo>
                  <a:lnTo>
                    <a:pt x="822960" y="1201420"/>
                  </a:lnTo>
                  <a:lnTo>
                    <a:pt x="822960" y="12700"/>
                  </a:lnTo>
                  <a:lnTo>
                    <a:pt x="835660" y="12700"/>
                  </a:lnTo>
                  <a:lnTo>
                    <a:pt x="83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85800" y="7447788"/>
            <a:ext cx="617220" cy="891540"/>
            <a:chOff x="0" y="0"/>
            <a:chExt cx="822960" cy="11887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22960" cy="1188720"/>
            </a:xfrm>
            <a:custGeom>
              <a:avLst/>
              <a:gdLst/>
              <a:ahLst/>
              <a:cxnLst/>
              <a:rect l="l" t="t" r="r" b="b"/>
              <a:pathLst>
                <a:path w="822960" h="118872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r="-13532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82296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2D5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99235" y="7438263"/>
            <a:ext cx="16066770" cy="910590"/>
            <a:chOff x="0" y="0"/>
            <a:chExt cx="21422360" cy="1214120"/>
          </a:xfrm>
        </p:grpSpPr>
        <p:sp>
          <p:nvSpPr>
            <p:cNvPr id="69" name="Freeform 69"/>
            <p:cNvSpPr/>
            <p:nvPr/>
          </p:nvSpPr>
          <p:spPr>
            <a:xfrm>
              <a:off x="12700" y="12700"/>
              <a:ext cx="21396961" cy="1188720"/>
            </a:xfrm>
            <a:custGeom>
              <a:avLst/>
              <a:gdLst/>
              <a:ahLst/>
              <a:cxnLst/>
              <a:rect l="l" t="t" r="r" b="b"/>
              <a:pathLst>
                <a:path w="21396961" h="1188720">
                  <a:moveTo>
                    <a:pt x="0" y="0"/>
                  </a:moveTo>
                  <a:lnTo>
                    <a:pt x="21396961" y="0"/>
                  </a:lnTo>
                  <a:lnTo>
                    <a:pt x="21396961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21422361" cy="1214120"/>
            </a:xfrm>
            <a:custGeom>
              <a:avLst/>
              <a:gdLst/>
              <a:ahLst/>
              <a:cxnLst/>
              <a:rect l="l" t="t" r="r" b="b"/>
              <a:pathLst>
                <a:path w="21422361" h="1214120">
                  <a:moveTo>
                    <a:pt x="12700" y="0"/>
                  </a:moveTo>
                  <a:lnTo>
                    <a:pt x="21409661" y="0"/>
                  </a:lnTo>
                  <a:cubicBezTo>
                    <a:pt x="21416646" y="0"/>
                    <a:pt x="21422361" y="5715"/>
                    <a:pt x="21422361" y="12700"/>
                  </a:cubicBezTo>
                  <a:lnTo>
                    <a:pt x="21422361" y="1201420"/>
                  </a:lnTo>
                  <a:cubicBezTo>
                    <a:pt x="21422361" y="1208405"/>
                    <a:pt x="21416646" y="1214120"/>
                    <a:pt x="21409661" y="1214120"/>
                  </a:cubicBezTo>
                  <a:lnTo>
                    <a:pt x="12700" y="1214120"/>
                  </a:lnTo>
                  <a:cubicBezTo>
                    <a:pt x="5715" y="1214120"/>
                    <a:pt x="0" y="1208405"/>
                    <a:pt x="0" y="1201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01420"/>
                  </a:lnTo>
                  <a:lnTo>
                    <a:pt x="12700" y="1201420"/>
                  </a:lnTo>
                  <a:lnTo>
                    <a:pt x="12700" y="1188720"/>
                  </a:lnTo>
                  <a:lnTo>
                    <a:pt x="21409661" y="1188720"/>
                  </a:lnTo>
                  <a:lnTo>
                    <a:pt x="21409661" y="1201420"/>
                  </a:lnTo>
                  <a:lnTo>
                    <a:pt x="21396961" y="1201420"/>
                  </a:lnTo>
                  <a:lnTo>
                    <a:pt x="21396961" y="12700"/>
                  </a:lnTo>
                  <a:lnTo>
                    <a:pt x="21409661" y="12700"/>
                  </a:lnTo>
                  <a:lnTo>
                    <a:pt x="214096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645920" y="7447788"/>
            <a:ext cx="15773400" cy="891540"/>
            <a:chOff x="0" y="0"/>
            <a:chExt cx="21031200" cy="11887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1031200" cy="1188720"/>
            </a:xfrm>
            <a:custGeom>
              <a:avLst/>
              <a:gdLst/>
              <a:ahLst/>
              <a:cxnLst/>
              <a:rect l="l" t="t" r="r" b="b"/>
              <a:pathLst>
                <a:path w="21031200" h="1188720">
                  <a:moveTo>
                    <a:pt x="0" y="0"/>
                  </a:moveTo>
                  <a:lnTo>
                    <a:pt x="21031200" y="0"/>
                  </a:lnTo>
                  <a:lnTo>
                    <a:pt x="21031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735" b="-2947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210312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This project highlights the practical application of AI in real-world systems and its potential to enhance healthcare efficiency.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6241E04-334C-1284-8F5E-2D52ED860929}"/>
              </a:ext>
            </a:extLst>
          </p:cNvPr>
          <p:cNvGrpSpPr/>
          <p:nvPr/>
        </p:nvGrpSpPr>
        <p:grpSpPr>
          <a:xfrm>
            <a:off x="20956" y="8707517"/>
            <a:ext cx="18164174" cy="1561195"/>
            <a:chOff x="-59054" y="8724899"/>
            <a:chExt cx="18164174" cy="1561195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C040313-EBBE-5974-4392-C97FE909B70E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ED95A944-C016-AC97-758D-868C7E1AC0F2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261330" cy="128778"/>
            <a:chOff x="0" y="0"/>
            <a:chExt cx="24348440" cy="171704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525" y="10167747"/>
            <a:ext cx="18261330" cy="128778"/>
            <a:chOff x="0" y="0"/>
            <a:chExt cx="24348440" cy="171704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24323039" cy="146304"/>
            </a:xfrm>
            <a:custGeom>
              <a:avLst/>
              <a:gdLst/>
              <a:ahLst/>
              <a:cxnLst/>
              <a:rect l="l" t="t" r="r" b="b"/>
              <a:pathLst>
                <a:path w="24323039" h="146304">
                  <a:moveTo>
                    <a:pt x="0" y="0"/>
                  </a:moveTo>
                  <a:lnTo>
                    <a:pt x="24323039" y="0"/>
                  </a:lnTo>
                  <a:lnTo>
                    <a:pt x="2432303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4348439" cy="171704"/>
            </a:xfrm>
            <a:custGeom>
              <a:avLst/>
              <a:gdLst/>
              <a:ahLst/>
              <a:cxnLst/>
              <a:rect l="l" t="t" r="r" b="b"/>
              <a:pathLst>
                <a:path w="24348439" h="171704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59004"/>
                  </a:lnTo>
                  <a:cubicBezTo>
                    <a:pt x="24348439" y="165989"/>
                    <a:pt x="24342725" y="171704"/>
                    <a:pt x="24335739" y="171704"/>
                  </a:cubicBezTo>
                  <a:lnTo>
                    <a:pt x="12700" y="171704"/>
                  </a:lnTo>
                  <a:cubicBezTo>
                    <a:pt x="5715" y="171704"/>
                    <a:pt x="0" y="165989"/>
                    <a:pt x="0" y="15900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004"/>
                  </a:lnTo>
                  <a:lnTo>
                    <a:pt x="12700" y="159004"/>
                  </a:lnTo>
                  <a:lnTo>
                    <a:pt x="12700" y="146304"/>
                  </a:lnTo>
                  <a:lnTo>
                    <a:pt x="24335739" y="146304"/>
                  </a:lnTo>
                  <a:lnTo>
                    <a:pt x="24335739" y="159004"/>
                  </a:lnTo>
                  <a:lnTo>
                    <a:pt x="24323039" y="159004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91075" y="2459355"/>
            <a:ext cx="8660130" cy="101346"/>
            <a:chOff x="0" y="0"/>
            <a:chExt cx="11546840" cy="135128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11521440" cy="109728"/>
            </a:xfrm>
            <a:custGeom>
              <a:avLst/>
              <a:gdLst/>
              <a:ahLst/>
              <a:cxnLst/>
              <a:rect l="l" t="t" r="r" b="b"/>
              <a:pathLst>
                <a:path w="11521440" h="109728">
                  <a:moveTo>
                    <a:pt x="0" y="0"/>
                  </a:moveTo>
                  <a:lnTo>
                    <a:pt x="11521440" y="0"/>
                  </a:lnTo>
                  <a:lnTo>
                    <a:pt x="115214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1546840" cy="135128"/>
            </a:xfrm>
            <a:custGeom>
              <a:avLst/>
              <a:gdLst/>
              <a:ahLst/>
              <a:cxnLst/>
              <a:rect l="l" t="t" r="r" b="b"/>
              <a:pathLst>
                <a:path w="11546840" h="135128">
                  <a:moveTo>
                    <a:pt x="12700" y="0"/>
                  </a:moveTo>
                  <a:lnTo>
                    <a:pt x="11534140" y="0"/>
                  </a:lnTo>
                  <a:cubicBezTo>
                    <a:pt x="11541125" y="0"/>
                    <a:pt x="11546840" y="5715"/>
                    <a:pt x="11546840" y="12700"/>
                  </a:cubicBezTo>
                  <a:lnTo>
                    <a:pt x="11546840" y="122428"/>
                  </a:lnTo>
                  <a:cubicBezTo>
                    <a:pt x="11546840" y="129413"/>
                    <a:pt x="11541125" y="135128"/>
                    <a:pt x="1153414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11534140" y="109728"/>
                  </a:lnTo>
                  <a:lnTo>
                    <a:pt x="11534140" y="122428"/>
                  </a:lnTo>
                  <a:lnTo>
                    <a:pt x="11521440" y="122428"/>
                  </a:lnTo>
                  <a:lnTo>
                    <a:pt x="11521440" y="12700"/>
                  </a:lnTo>
                  <a:lnTo>
                    <a:pt x="11534140" y="12700"/>
                  </a:lnTo>
                  <a:lnTo>
                    <a:pt x="1153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91075" y="6162675"/>
            <a:ext cx="8660130" cy="101346"/>
            <a:chOff x="0" y="0"/>
            <a:chExt cx="11546840" cy="135128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11521440" cy="109728"/>
            </a:xfrm>
            <a:custGeom>
              <a:avLst/>
              <a:gdLst/>
              <a:ahLst/>
              <a:cxnLst/>
              <a:rect l="l" t="t" r="r" b="b"/>
              <a:pathLst>
                <a:path w="11521440" h="109728">
                  <a:moveTo>
                    <a:pt x="0" y="0"/>
                  </a:moveTo>
                  <a:lnTo>
                    <a:pt x="11521440" y="0"/>
                  </a:lnTo>
                  <a:lnTo>
                    <a:pt x="115214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1546840" cy="135128"/>
            </a:xfrm>
            <a:custGeom>
              <a:avLst/>
              <a:gdLst/>
              <a:ahLst/>
              <a:cxnLst/>
              <a:rect l="l" t="t" r="r" b="b"/>
              <a:pathLst>
                <a:path w="11546840" h="135128">
                  <a:moveTo>
                    <a:pt x="12700" y="0"/>
                  </a:moveTo>
                  <a:lnTo>
                    <a:pt x="11534140" y="0"/>
                  </a:lnTo>
                  <a:cubicBezTo>
                    <a:pt x="11541125" y="0"/>
                    <a:pt x="11546840" y="5715"/>
                    <a:pt x="11546840" y="12700"/>
                  </a:cubicBezTo>
                  <a:lnTo>
                    <a:pt x="11546840" y="122428"/>
                  </a:lnTo>
                  <a:cubicBezTo>
                    <a:pt x="11546840" y="129413"/>
                    <a:pt x="11541125" y="135128"/>
                    <a:pt x="11534140" y="135128"/>
                  </a:cubicBezTo>
                  <a:lnTo>
                    <a:pt x="12700" y="135128"/>
                  </a:lnTo>
                  <a:cubicBezTo>
                    <a:pt x="5715" y="135128"/>
                    <a:pt x="0" y="129413"/>
                    <a:pt x="0" y="1224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2428"/>
                  </a:lnTo>
                  <a:lnTo>
                    <a:pt x="12700" y="122428"/>
                  </a:lnTo>
                  <a:lnTo>
                    <a:pt x="12700" y="109728"/>
                  </a:lnTo>
                  <a:lnTo>
                    <a:pt x="11534140" y="109728"/>
                  </a:lnTo>
                  <a:lnTo>
                    <a:pt x="11534140" y="122428"/>
                  </a:lnTo>
                  <a:lnTo>
                    <a:pt x="11521440" y="122428"/>
                  </a:lnTo>
                  <a:lnTo>
                    <a:pt x="11521440" y="12700"/>
                  </a:lnTo>
                  <a:lnTo>
                    <a:pt x="11534140" y="12700"/>
                  </a:lnTo>
                  <a:lnTo>
                    <a:pt x="1153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89181" y="3441164"/>
            <a:ext cx="6663918" cy="1841048"/>
            <a:chOff x="0" y="0"/>
            <a:chExt cx="9267416" cy="2560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67416" cy="2560320"/>
            </a:xfrm>
            <a:custGeom>
              <a:avLst/>
              <a:gdLst/>
              <a:ahLst/>
              <a:cxnLst/>
              <a:rect l="l" t="t" r="r" b="b"/>
              <a:pathLst>
                <a:path w="9267416" h="2560320">
                  <a:moveTo>
                    <a:pt x="0" y="0"/>
                  </a:moveTo>
                  <a:lnTo>
                    <a:pt x="9267416" y="0"/>
                  </a:lnTo>
                  <a:lnTo>
                    <a:pt x="9267416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354" r="-103256" b="-933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52400"/>
              <a:ext cx="9267416" cy="2712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00"/>
                </a:lnSpc>
              </a:pPr>
              <a:r>
                <a:rPr lang="en-US" sz="75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Thank You!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419320" y="9738360"/>
            <a:ext cx="685800" cy="411480"/>
            <a:chOff x="0" y="0"/>
            <a:chExt cx="914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890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9525" y="-19050"/>
            <a:ext cx="47625" cy="10306050"/>
            <a:chOff x="0" y="0"/>
            <a:chExt cx="63500" cy="13741400"/>
          </a:xfrm>
        </p:grpSpPr>
        <p:sp>
          <p:nvSpPr>
            <p:cNvPr id="25" name="Freeform 25"/>
            <p:cNvSpPr/>
            <p:nvPr/>
          </p:nvSpPr>
          <p:spPr>
            <a:xfrm>
              <a:off x="1212" y="12700"/>
              <a:ext cx="61076" cy="13716000"/>
            </a:xfrm>
            <a:custGeom>
              <a:avLst/>
              <a:gdLst/>
              <a:ahLst/>
              <a:cxnLst/>
              <a:rect l="l" t="t" r="r" b="b"/>
              <a:pathLst>
                <a:path w="61076" h="13716000">
                  <a:moveTo>
                    <a:pt x="0" y="0"/>
                  </a:moveTo>
                  <a:lnTo>
                    <a:pt x="61076" y="0"/>
                  </a:lnTo>
                  <a:lnTo>
                    <a:pt x="61076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73000"/>
              </a:blip>
              <a:stretch>
                <a:fillRect l="-28323865" t="-92" r="-29309484" b="-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3500" cy="13741400"/>
            </a:xfrm>
            <a:custGeom>
              <a:avLst/>
              <a:gdLst/>
              <a:ahLst/>
              <a:cxnLst/>
              <a:rect l="l" t="t" r="r" b="b"/>
              <a:pathLst>
                <a:path w="63500" h="13741400">
                  <a:moveTo>
                    <a:pt x="1212" y="0"/>
                  </a:moveTo>
                  <a:lnTo>
                    <a:pt x="62288" y="0"/>
                  </a:lnTo>
                  <a:cubicBezTo>
                    <a:pt x="62955" y="0"/>
                    <a:pt x="63500" y="5715"/>
                    <a:pt x="63500" y="12700"/>
                  </a:cubicBezTo>
                  <a:lnTo>
                    <a:pt x="63500" y="13728700"/>
                  </a:lnTo>
                  <a:cubicBezTo>
                    <a:pt x="63500" y="13735686"/>
                    <a:pt x="62955" y="13741400"/>
                    <a:pt x="62288" y="13741400"/>
                  </a:cubicBezTo>
                  <a:lnTo>
                    <a:pt x="1212" y="13741400"/>
                  </a:lnTo>
                  <a:cubicBezTo>
                    <a:pt x="54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45" y="0"/>
                    <a:pt x="1212" y="0"/>
                  </a:cubicBezTo>
                  <a:moveTo>
                    <a:pt x="1212" y="25400"/>
                  </a:moveTo>
                  <a:lnTo>
                    <a:pt x="1212" y="12700"/>
                  </a:lnTo>
                  <a:lnTo>
                    <a:pt x="2424" y="12700"/>
                  </a:lnTo>
                  <a:lnTo>
                    <a:pt x="2424" y="13728700"/>
                  </a:lnTo>
                  <a:lnTo>
                    <a:pt x="1212" y="13728700"/>
                  </a:lnTo>
                  <a:lnTo>
                    <a:pt x="1212" y="13716000"/>
                  </a:lnTo>
                  <a:lnTo>
                    <a:pt x="62288" y="13716000"/>
                  </a:lnTo>
                  <a:lnTo>
                    <a:pt x="62288" y="13728700"/>
                  </a:lnTo>
                  <a:lnTo>
                    <a:pt x="61076" y="13728700"/>
                  </a:lnTo>
                  <a:lnTo>
                    <a:pt x="61076" y="12700"/>
                  </a:lnTo>
                  <a:lnTo>
                    <a:pt x="62288" y="12700"/>
                  </a:lnTo>
                  <a:lnTo>
                    <a:pt x="62288" y="25400"/>
                  </a:lnTo>
                  <a:lnTo>
                    <a:pt x="1212" y="25400"/>
                  </a:lnTo>
                  <a:close/>
                </a:path>
              </a:pathLst>
            </a:custGeom>
            <a:solidFill>
              <a:srgbClr val="E8A020">
                <a:alpha val="72941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84A477A-FD36-A2A9-2E78-28D377539003}"/>
              </a:ext>
            </a:extLst>
          </p:cNvPr>
          <p:cNvGrpSpPr/>
          <p:nvPr/>
        </p:nvGrpSpPr>
        <p:grpSpPr>
          <a:xfrm>
            <a:off x="20956" y="8707517"/>
            <a:ext cx="18164174" cy="1561195"/>
            <a:chOff x="-59054" y="8724899"/>
            <a:chExt cx="18164174" cy="1561195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A159140-71B6-56ED-2F17-140EB8BFEA9E}"/>
                </a:ext>
              </a:extLst>
            </p:cNvPr>
            <p:cNvSpPr/>
            <p:nvPr/>
          </p:nvSpPr>
          <p:spPr>
            <a:xfrm>
              <a:off x="14673738" y="8724899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10F6ECC-DA64-EDAB-4A98-387B60E6E779}"/>
                </a:ext>
              </a:extLst>
            </p:cNvPr>
            <p:cNvSpPr/>
            <p:nvPr/>
          </p:nvSpPr>
          <p:spPr>
            <a:xfrm>
              <a:off x="-59054" y="9422892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5D1D644-E700-59C1-1065-1B6FF97AC1AB}"/>
              </a:ext>
            </a:extLst>
          </p:cNvPr>
          <p:cNvGrpSpPr/>
          <p:nvPr/>
        </p:nvGrpSpPr>
        <p:grpSpPr>
          <a:xfrm>
            <a:off x="169984" y="108431"/>
            <a:ext cx="18108490" cy="1469563"/>
            <a:chOff x="31916" y="-26250"/>
            <a:chExt cx="18108490" cy="1469563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EF796FE-F174-2471-A790-869D16CD2D33}"/>
                </a:ext>
              </a:extLst>
            </p:cNvPr>
            <p:cNvSpPr/>
            <p:nvPr/>
          </p:nvSpPr>
          <p:spPr>
            <a:xfrm>
              <a:off x="31916" y="224112"/>
              <a:ext cx="3431382" cy="1219201"/>
            </a:xfrm>
            <a:prstGeom prst="roundRect">
              <a:avLst/>
            </a:prstGeom>
            <a:solidFill>
              <a:srgbClr val="E8A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9926AB8-C125-FB70-19DA-770AD17EA701}"/>
                </a:ext>
              </a:extLst>
            </p:cNvPr>
            <p:cNvSpPr/>
            <p:nvPr/>
          </p:nvSpPr>
          <p:spPr>
            <a:xfrm>
              <a:off x="2251649" y="-26250"/>
              <a:ext cx="15888757" cy="863202"/>
            </a:xfrm>
            <a:prstGeom prst="roundRect">
              <a:avLst/>
            </a:prstGeom>
            <a:solidFill>
              <a:srgbClr val="1C1C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868</Words>
  <Application>Microsoft Office PowerPoint</Application>
  <PresentationFormat>Custom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 (MS) Bold</vt:lpstr>
      <vt:lpstr>Calibri</vt:lpstr>
      <vt:lpstr>Times New Roman MT</vt:lpstr>
      <vt:lpstr>Arial</vt:lpstr>
      <vt:lpstr>Times New Roman MT Bold</vt:lpstr>
      <vt:lpstr>Times New Roman MT Italics</vt:lpstr>
      <vt:lpstr>Calibri (MS) Italics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Project_Presentation_Template.pptx</dc:title>
  <dc:creator>HP</dc:creator>
  <cp:lastModifiedBy>Me Me</cp:lastModifiedBy>
  <cp:revision>2</cp:revision>
  <dcterms:created xsi:type="dcterms:W3CDTF">2006-08-16T00:00:00Z</dcterms:created>
  <dcterms:modified xsi:type="dcterms:W3CDTF">2026-04-16T19:14:22Z</dcterms:modified>
  <dc:identifier>DAHHCIxxHuI</dc:identifier>
</cp:coreProperties>
</file>